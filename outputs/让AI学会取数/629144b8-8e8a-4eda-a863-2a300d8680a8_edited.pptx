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3087" y="0"/>
            <a:ext cx="2157245" cy="728799"/>
          </a:xfrm>
          <a:prstGeom prst="rect">
            <a:avLst/>
          </a:prstGeom>
          <a:solidFill>
            <a:srgbClr val="D8171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8005301" y="1122351"/>
            <a:ext cx="3789756" cy="3031804"/>
          </a:xfrm>
          <a:prstGeom prst="roundRect">
            <a:avLst>
              <a:gd name="adj" fmla="val 3846"/>
            </a:avLst>
          </a:prstGeom>
          <a:solidFill>
            <a:srgbClr val="FFFDFD"/>
          </a:solidFill>
          <a:ln w="15240">
            <a:solidFill>
              <a:srgbClr val="F3B3B0"/>
            </a:solidFill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301894" y="3636708"/>
            <a:ext cx="7521207" cy="1661662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5240">
            <a:solidFill>
              <a:srgbClr val="F3B3B0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8260381" y="5240066"/>
            <a:ext cx="3534676" cy="1377430"/>
          </a:xfrm>
          <a:prstGeom prst="roundRect">
            <a:avLst>
              <a:gd name="adj" fmla="val 8466"/>
            </a:avLst>
          </a:prstGeom>
          <a:solidFill>
            <a:srgbClr val="FFFFFF"/>
          </a:solidFill>
          <a:ln w="15240">
            <a:solidFill>
              <a:srgbClr val="F3B3B0"/>
            </a:solidFill>
          </a:ln>
        </p:spPr>
        <p:txBody>
          <a:bodyPr/>
          <a:lstStyle/>
          <a:p/>
        </p:txBody>
      </p:sp>
      <p:sp>
        <p:nvSpPr>
          <p:cNvPr id="6" name="Line 6"/>
          <p:cNvSpPr/>
          <p:nvPr/>
        </p:nvSpPr>
        <p:spPr>
          <a:xfrm>
            <a:off x="3087" y="838119"/>
            <a:ext cx="11937730" cy="0"/>
          </a:xfrm>
          <a:prstGeom prst="line">
            <a:avLst/>
          </a:prstGeom>
          <a:noFill/>
          <a:ln w="20320">
            <a:solidFill>
              <a:srgbClr val="D81712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8282245" y="1858438"/>
            <a:ext cx="3352476" cy="400840"/>
          </a:xfrm>
          <a:prstGeom prst="roundRect">
            <a:avLst>
              <a:gd name="adj" fmla="val 10909"/>
            </a:avLst>
          </a:prstGeom>
          <a:solidFill>
            <a:srgbClr val="FF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8282245" y="2324869"/>
            <a:ext cx="3352476" cy="400840"/>
          </a:xfrm>
          <a:prstGeom prst="roundRect">
            <a:avLst>
              <a:gd name="adj" fmla="val 10909"/>
            </a:avLst>
          </a:prstGeom>
          <a:solidFill>
            <a:srgbClr val="FF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8282245" y="2791301"/>
            <a:ext cx="3352476" cy="400840"/>
          </a:xfrm>
          <a:prstGeom prst="roundRect">
            <a:avLst>
              <a:gd name="adj" fmla="val 10909"/>
            </a:avLst>
          </a:prstGeom>
          <a:solidFill>
            <a:srgbClr val="FF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8282245" y="3257732"/>
            <a:ext cx="3352476" cy="400840"/>
          </a:xfrm>
          <a:prstGeom prst="roundRect">
            <a:avLst>
              <a:gd name="adj" fmla="val 10909"/>
            </a:avLst>
          </a:prstGeom>
          <a:solidFill>
            <a:srgbClr val="FF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8282245" y="3724164"/>
            <a:ext cx="3352476" cy="400840"/>
          </a:xfrm>
          <a:prstGeom prst="roundRect">
            <a:avLst>
              <a:gd name="adj" fmla="val 10909"/>
            </a:avLst>
          </a:prstGeom>
          <a:solidFill>
            <a:srgbClr val="FF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lipse 12"/>
          <p:cNvSpPr/>
          <p:nvPr/>
        </p:nvSpPr>
        <p:spPr>
          <a:xfrm>
            <a:off x="892222" y="1778270"/>
            <a:ext cx="983879" cy="801679"/>
          </a:xfrm>
          <a:prstGeom prst="ellipse">
            <a:avLst/>
          </a:prstGeom>
          <a:solidFill>
            <a:srgbClr val="FFF3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lipse 13"/>
          <p:cNvSpPr/>
          <p:nvPr/>
        </p:nvSpPr>
        <p:spPr>
          <a:xfrm>
            <a:off x="2262364" y="1778270"/>
            <a:ext cx="983879" cy="801679"/>
          </a:xfrm>
          <a:prstGeom prst="ellipse">
            <a:avLst/>
          </a:prstGeom>
          <a:solidFill>
            <a:srgbClr val="FFF3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lipse 14"/>
          <p:cNvSpPr/>
          <p:nvPr/>
        </p:nvSpPr>
        <p:spPr>
          <a:xfrm>
            <a:off x="3632506" y="1778270"/>
            <a:ext cx="983879" cy="801679"/>
          </a:xfrm>
          <a:prstGeom prst="ellipse">
            <a:avLst/>
          </a:prstGeom>
          <a:solidFill>
            <a:srgbClr val="FFF3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lipse 15"/>
          <p:cNvSpPr/>
          <p:nvPr/>
        </p:nvSpPr>
        <p:spPr>
          <a:xfrm>
            <a:off x="5002649" y="1778270"/>
            <a:ext cx="983879" cy="801679"/>
          </a:xfrm>
          <a:prstGeom prst="ellipse">
            <a:avLst/>
          </a:prstGeom>
          <a:solidFill>
            <a:srgbClr val="FFF3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lipse 16"/>
          <p:cNvSpPr/>
          <p:nvPr/>
        </p:nvSpPr>
        <p:spPr>
          <a:xfrm>
            <a:off x="6372791" y="1778270"/>
            <a:ext cx="983879" cy="801679"/>
          </a:xfrm>
          <a:prstGeom prst="ellipse">
            <a:avLst/>
          </a:prstGeom>
          <a:solidFill>
            <a:srgbClr val="FFF3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lipse 17"/>
          <p:cNvSpPr/>
          <p:nvPr/>
        </p:nvSpPr>
        <p:spPr>
          <a:xfrm>
            <a:off x="615278" y="4212459"/>
            <a:ext cx="1056759" cy="699647"/>
          </a:xfrm>
          <a:prstGeom prst="ellipse">
            <a:avLst/>
          </a:prstGeom>
          <a:solidFill>
            <a:srgbClr val="FFF3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lipse 18"/>
          <p:cNvSpPr/>
          <p:nvPr/>
        </p:nvSpPr>
        <p:spPr>
          <a:xfrm>
            <a:off x="2451852" y="4212459"/>
            <a:ext cx="1056759" cy="699647"/>
          </a:xfrm>
          <a:prstGeom prst="ellipse">
            <a:avLst/>
          </a:prstGeom>
          <a:solidFill>
            <a:srgbClr val="FFF3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lipse 19"/>
          <p:cNvSpPr/>
          <p:nvPr/>
        </p:nvSpPr>
        <p:spPr>
          <a:xfrm>
            <a:off x="4303002" y="4212459"/>
            <a:ext cx="1056759" cy="699647"/>
          </a:xfrm>
          <a:prstGeom prst="ellipse">
            <a:avLst/>
          </a:prstGeom>
          <a:solidFill>
            <a:srgbClr val="FFF3F3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lipse 20"/>
          <p:cNvSpPr/>
          <p:nvPr/>
        </p:nvSpPr>
        <p:spPr>
          <a:xfrm>
            <a:off x="6154152" y="4212459"/>
            <a:ext cx="1056759" cy="699647"/>
          </a:xfrm>
          <a:prstGeom prst="ellipse">
            <a:avLst/>
          </a:prstGeom>
          <a:solidFill>
            <a:srgbClr val="FFF3F3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oundrect 21"/>
          <p:cNvSpPr/>
          <p:nvPr/>
        </p:nvSpPr>
        <p:spPr>
          <a:xfrm>
            <a:off x="1081709" y="5604465"/>
            <a:ext cx="1464886" cy="706935"/>
          </a:xfrm>
          <a:prstGeom prst="roundRect">
            <a:avLst>
              <a:gd name="adj" fmla="val 14433"/>
            </a:avLst>
          </a:prstGeom>
          <a:solidFill>
            <a:srgbClr val="FFF8F8"/>
          </a:solidFill>
          <a:ln w="12700">
            <a:solidFill>
              <a:srgbClr val="F3B3B0"/>
            </a:solidFill>
          </a:ln>
        </p:spPr>
        <p:txBody>
          <a:bodyPr/>
          <a:lstStyle/>
          <a:p/>
        </p:txBody>
      </p:sp>
      <p:sp>
        <p:nvSpPr>
          <p:cNvPr id="22" name="Roundrect 22"/>
          <p:cNvSpPr/>
          <p:nvPr/>
        </p:nvSpPr>
        <p:spPr>
          <a:xfrm>
            <a:off x="2787099" y="5604465"/>
            <a:ext cx="1464886" cy="706935"/>
          </a:xfrm>
          <a:prstGeom prst="roundRect">
            <a:avLst>
              <a:gd name="adj" fmla="val 14433"/>
            </a:avLst>
          </a:prstGeom>
          <a:solidFill>
            <a:srgbClr val="FFF8F8"/>
          </a:solidFill>
          <a:ln w="12700">
            <a:solidFill>
              <a:srgbClr val="F3B3B0"/>
            </a:solidFill>
          </a:ln>
        </p:spPr>
        <p:txBody>
          <a:bodyPr/>
          <a:lstStyle/>
          <a:p/>
        </p:txBody>
      </p:sp>
      <p:sp>
        <p:nvSpPr>
          <p:cNvPr id="23" name="Roundrect 23"/>
          <p:cNvSpPr/>
          <p:nvPr/>
        </p:nvSpPr>
        <p:spPr>
          <a:xfrm>
            <a:off x="4507065" y="5604465"/>
            <a:ext cx="1464886" cy="706935"/>
          </a:xfrm>
          <a:prstGeom prst="roundRect">
            <a:avLst>
              <a:gd name="adj" fmla="val 14433"/>
            </a:avLst>
          </a:prstGeom>
          <a:solidFill>
            <a:srgbClr val="FFF8F8"/>
          </a:solidFill>
          <a:ln w="12700">
            <a:solidFill>
              <a:srgbClr val="F3B3B0"/>
            </a:solidFill>
          </a:ln>
        </p:spPr>
        <p:txBody>
          <a:bodyPr/>
          <a:lstStyle/>
          <a:p/>
        </p:txBody>
      </p:sp>
      <p:sp>
        <p:nvSpPr>
          <p:cNvPr id="24" name="Roundrect 24"/>
          <p:cNvSpPr/>
          <p:nvPr/>
        </p:nvSpPr>
        <p:spPr>
          <a:xfrm>
            <a:off x="6241607" y="5604465"/>
            <a:ext cx="1566918" cy="706935"/>
          </a:xfrm>
          <a:prstGeom prst="roundRect">
            <a:avLst>
              <a:gd name="adj" fmla="val 14433"/>
            </a:avLst>
          </a:prstGeom>
          <a:solidFill>
            <a:srgbClr val="FFF8F8"/>
          </a:solidFill>
          <a:ln w="12700">
            <a:solidFill>
              <a:srgbClr val="F3B3B0"/>
            </a:solidFill>
          </a:ln>
        </p:spPr>
        <p:txBody>
          <a:bodyPr/>
          <a:lstStyle/>
          <a:p/>
        </p:txBody>
      </p:sp>
      <p:sp>
        <p:nvSpPr>
          <p:cNvPr id="25" name="Line 25"/>
          <p:cNvSpPr/>
          <p:nvPr/>
        </p:nvSpPr>
        <p:spPr>
          <a:xfrm>
            <a:off x="323758" y="2332157"/>
            <a:ext cx="6967320" cy="0"/>
          </a:xfrm>
          <a:prstGeom prst="line">
            <a:avLst/>
          </a:prstGeom>
          <a:noFill/>
          <a:ln w="31750">
            <a:solidFill>
              <a:srgbClr val="F2A6A4"/>
            </a:solidFill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>
            <a:off x="323758" y="2332157"/>
            <a:ext cx="0" cy="874559"/>
          </a:xfrm>
          <a:prstGeom prst="line">
            <a:avLst/>
          </a:prstGeom>
          <a:noFill/>
          <a:ln w="31750">
            <a:solidFill>
              <a:srgbClr val="F2A6A4"/>
            </a:solidFill>
          </a:ln>
        </p:spPr>
        <p:txBody>
          <a:bodyPr/>
          <a:lstStyle/>
          <a:p/>
        </p:txBody>
      </p:sp>
      <p:sp>
        <p:nvSpPr>
          <p:cNvPr id="27" name="Line 27"/>
          <p:cNvSpPr/>
          <p:nvPr/>
        </p:nvSpPr>
        <p:spPr>
          <a:xfrm>
            <a:off x="323758" y="3206716"/>
            <a:ext cx="6967320" cy="0"/>
          </a:xfrm>
          <a:prstGeom prst="line">
            <a:avLst/>
          </a:prstGeom>
          <a:noFill/>
          <a:ln w="31750">
            <a:solidFill>
              <a:srgbClr val="F2A6A4"/>
            </a:solidFill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>
            <a:off x="7291078" y="2332157"/>
            <a:ext cx="0" cy="874559"/>
          </a:xfrm>
          <a:prstGeom prst="line">
            <a:avLst/>
          </a:prstGeom>
          <a:noFill/>
          <a:ln w="31750">
            <a:solidFill>
              <a:srgbClr val="F2A6A4"/>
            </a:solidFill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>
            <a:off x="1373229" y="6610208"/>
            <a:ext cx="6282249" cy="0"/>
          </a:xfrm>
          <a:prstGeom prst="line">
            <a:avLst/>
          </a:prstGeom>
          <a:noFill/>
          <a:ln w="31750">
            <a:solidFill>
              <a:srgbClr val="F2A6A4"/>
            </a:solidFill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 flipV="1">
            <a:off x="7655478" y="6267673"/>
            <a:ext cx="364400" cy="342536"/>
          </a:xfrm>
          <a:prstGeom prst="line">
            <a:avLst/>
          </a:prstGeom>
          <a:noFill/>
          <a:ln w="31750">
            <a:solidFill>
              <a:srgbClr val="F2A6A4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 flipH="1" flipV="1">
            <a:off x="7655478" y="5939713"/>
            <a:ext cx="364400" cy="327960"/>
          </a:xfrm>
          <a:prstGeom prst="line">
            <a:avLst/>
          </a:prstGeom>
          <a:noFill/>
          <a:ln w="31750">
            <a:solidFill>
              <a:srgbClr val="F2A6A4"/>
            </a:solidFill>
          </a:ln>
        </p:spPr>
        <p:txBody>
          <a:bodyPr/>
          <a:lstStyle/>
          <a:p/>
        </p:txBody>
      </p:sp>
      <p:sp>
        <p:nvSpPr>
          <p:cNvPr id="32" name="Roundrect 32"/>
          <p:cNvSpPr/>
          <p:nvPr/>
        </p:nvSpPr>
        <p:spPr>
          <a:xfrm>
            <a:off x="3100483" y="1042183"/>
            <a:ext cx="2033350" cy="313384"/>
          </a:xfrm>
          <a:prstGeom prst="roundRect">
            <a:avLst>
              <a:gd name="adj" fmla="val 46512"/>
            </a:avLst>
          </a:prstGeom>
          <a:solidFill>
            <a:srgbClr val="D81712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oundrect 33"/>
          <p:cNvSpPr/>
          <p:nvPr/>
        </p:nvSpPr>
        <p:spPr>
          <a:xfrm>
            <a:off x="8806980" y="1064047"/>
            <a:ext cx="2222837" cy="313384"/>
          </a:xfrm>
          <a:prstGeom prst="roundRect">
            <a:avLst>
              <a:gd name="adj" fmla="val 46512"/>
            </a:avLst>
          </a:prstGeom>
          <a:solidFill>
            <a:srgbClr val="D81712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Roundrect 34"/>
          <p:cNvSpPr/>
          <p:nvPr/>
        </p:nvSpPr>
        <p:spPr>
          <a:xfrm>
            <a:off x="2852691" y="3549252"/>
            <a:ext cx="2324869" cy="320672"/>
          </a:xfrm>
          <a:prstGeom prst="roundRect">
            <a:avLst>
              <a:gd name="adj" fmla="val 50000"/>
            </a:avLst>
          </a:prstGeom>
          <a:solidFill>
            <a:srgbClr val="D81712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Roundrect 35"/>
          <p:cNvSpPr/>
          <p:nvPr/>
        </p:nvSpPr>
        <p:spPr>
          <a:xfrm>
            <a:off x="287318" y="5487858"/>
            <a:ext cx="634055" cy="830831"/>
          </a:xfrm>
          <a:prstGeom prst="roundRect">
            <a:avLst>
              <a:gd name="adj" fmla="val 16092"/>
            </a:avLst>
          </a:prstGeom>
          <a:solidFill>
            <a:srgbClr val="D81712"/>
          </a:solidFill>
          <a:ln>
            <a:noFill/>
          </a:ln>
        </p:spPr>
        <p:txBody>
          <a:bodyPr/>
          <a:lstStyle/>
          <a:p/>
        </p:txBody>
      </p:sp>
      <p:pic>
        <p:nvPicPr>
          <p:cNvPr id="36" name="asset-sheet separated laptop person pictogram"/>
          <p:cNvPicPr/>
          <p:nvPr/>
        </p:nvPicPr>
        <p:blipFill>
          <a:blip r:embed="rId2"/>
          <a:stretch>
            <a:fillRect/>
          </a:stretch>
        </p:blipFill>
        <p:spPr>
          <a:xfrm>
            <a:off x="1132725" y="1967758"/>
            <a:ext cx="524735" cy="422704"/>
          </a:xfrm>
          <a:prstGeom prst="rect">
            <a:avLst/>
          </a:prstGeom>
        </p:spPr>
      </p:pic>
      <p:pic>
        <p:nvPicPr>
          <p:cNvPr id="37" name="asset-sheet separated magnifier pictogram"/>
          <p:cNvPicPr/>
          <p:nvPr/>
        </p:nvPicPr>
        <p:blipFill>
          <a:blip r:embed="rId3"/>
          <a:stretch>
            <a:fillRect/>
          </a:stretch>
        </p:blipFill>
        <p:spPr>
          <a:xfrm>
            <a:off x="2510156" y="1967758"/>
            <a:ext cx="524735" cy="422704"/>
          </a:xfrm>
          <a:prstGeom prst="rect">
            <a:avLst/>
          </a:prstGeom>
        </p:spPr>
      </p:pic>
      <p:pic>
        <p:nvPicPr>
          <p:cNvPr id="38" name="asset-sheet separated checklist pictogram"/>
          <p:cNvPicPr/>
          <p:nvPr/>
        </p:nvPicPr>
        <p:blipFill>
          <a:blip r:embed="rId4"/>
          <a:stretch>
            <a:fillRect/>
          </a:stretch>
        </p:blipFill>
        <p:spPr>
          <a:xfrm>
            <a:off x="3880298" y="1967758"/>
            <a:ext cx="524735" cy="422704"/>
          </a:xfrm>
          <a:prstGeom prst="rect">
            <a:avLst/>
          </a:prstGeom>
        </p:spPr>
      </p:pic>
      <p:pic>
        <p:nvPicPr>
          <p:cNvPr id="39" name="asset-sheet separated book pictogram"/>
          <p:cNvPicPr/>
          <p:nvPr/>
        </p:nvPicPr>
        <p:blipFill>
          <a:blip r:embed="rId5"/>
          <a:stretch>
            <a:fillRect/>
          </a:stretch>
        </p:blipFill>
        <p:spPr>
          <a:xfrm>
            <a:off x="5250441" y="1967758"/>
            <a:ext cx="524735" cy="422704"/>
          </a:xfrm>
          <a:prstGeom prst="rect">
            <a:avLst/>
          </a:prstGeom>
        </p:spPr>
      </p:pic>
      <p:pic>
        <p:nvPicPr>
          <p:cNvPr id="40" name="asset-sheet separated check pictogram"/>
          <p:cNvPicPr/>
          <p:nvPr/>
        </p:nvPicPr>
        <p:blipFill>
          <a:blip r:embed="rId6"/>
          <a:stretch>
            <a:fillRect/>
          </a:stretch>
        </p:blipFill>
        <p:spPr>
          <a:xfrm>
            <a:off x="6613295" y="1967758"/>
            <a:ext cx="524735" cy="422704"/>
          </a:xfrm>
          <a:prstGeom prst="rect">
            <a:avLst/>
          </a:prstGeom>
        </p:spPr>
      </p:pic>
      <p:pic>
        <p:nvPicPr>
          <p:cNvPr id="41" name="asset-sheet separated database pictogram"/>
          <p:cNvPicPr/>
          <p:nvPr/>
        </p:nvPicPr>
        <p:blipFill>
          <a:blip r:embed="rId7"/>
          <a:stretch>
            <a:fillRect/>
          </a:stretch>
        </p:blipFill>
        <p:spPr>
          <a:xfrm>
            <a:off x="8384277" y="1916742"/>
            <a:ext cx="327960" cy="291520"/>
          </a:xfrm>
          <a:prstGeom prst="rect">
            <a:avLst/>
          </a:prstGeom>
        </p:spPr>
      </p:pic>
      <p:pic>
        <p:nvPicPr>
          <p:cNvPr id="42" name="asset-sheet separated target pictogram"/>
          <p:cNvPicPr/>
          <p:nvPr/>
        </p:nvPicPr>
        <p:blipFill>
          <a:blip r:embed="rId8"/>
          <a:stretch>
            <a:fillRect/>
          </a:stretch>
        </p:blipFill>
        <p:spPr>
          <a:xfrm>
            <a:off x="8384277" y="2383173"/>
            <a:ext cx="327960" cy="291520"/>
          </a:xfrm>
          <a:prstGeom prst="rect">
            <a:avLst/>
          </a:prstGeom>
        </p:spPr>
      </p:pic>
      <p:pic>
        <p:nvPicPr>
          <p:cNvPr id="43" name="asset-sheet separated org chart pictogram"/>
          <p:cNvPicPr/>
          <p:nvPr/>
        </p:nvPicPr>
        <p:blipFill>
          <a:blip r:embed="rId9"/>
          <a:stretch>
            <a:fillRect/>
          </a:stretch>
        </p:blipFill>
        <p:spPr>
          <a:xfrm>
            <a:off x="8384277" y="2849605"/>
            <a:ext cx="327960" cy="291520"/>
          </a:xfrm>
          <a:prstGeom prst="rect">
            <a:avLst/>
          </a:prstGeom>
        </p:spPr>
      </p:pic>
      <p:pic>
        <p:nvPicPr>
          <p:cNvPr id="44" name="asset-sheet separated SQL monitor pictogram"/>
          <p:cNvPicPr/>
          <p:nvPr/>
        </p:nvPicPr>
        <p:blipFill>
          <a:blip r:embed="rId10"/>
          <a:stretch>
            <a:fillRect/>
          </a:stretch>
        </p:blipFill>
        <p:spPr>
          <a:xfrm>
            <a:off x="8384277" y="3316036"/>
            <a:ext cx="327960" cy="291520"/>
          </a:xfrm>
          <a:prstGeom prst="rect">
            <a:avLst/>
          </a:prstGeom>
        </p:spPr>
      </p:pic>
      <p:pic>
        <p:nvPicPr>
          <p:cNvPr id="45" name="asset-sheet separated document pictogram"/>
          <p:cNvPicPr/>
          <p:nvPr/>
        </p:nvPicPr>
        <p:blipFill>
          <a:blip r:embed="rId11"/>
          <a:stretch>
            <a:fillRect/>
          </a:stretch>
        </p:blipFill>
        <p:spPr>
          <a:xfrm>
            <a:off x="8384277" y="3782468"/>
            <a:ext cx="327960" cy="291520"/>
          </a:xfrm>
          <a:prstGeom prst="rect">
            <a:avLst/>
          </a:prstGeom>
        </p:spPr>
      </p:pic>
      <p:pic>
        <p:nvPicPr>
          <p:cNvPr id="46" name="asset-sheet separated people pictogram"/>
          <p:cNvPicPr/>
          <p:nvPr/>
        </p:nvPicPr>
        <p:blipFill>
          <a:blip r:embed="rId12"/>
          <a:stretch>
            <a:fillRect/>
          </a:stretch>
        </p:blipFill>
        <p:spPr>
          <a:xfrm>
            <a:off x="753750" y="4329067"/>
            <a:ext cx="415416" cy="364400"/>
          </a:xfrm>
          <a:prstGeom prst="rect">
            <a:avLst/>
          </a:prstGeom>
        </p:spPr>
      </p:pic>
      <p:pic>
        <p:nvPicPr>
          <p:cNvPr id="47" name="asset-sheet separated gear pictogram"/>
          <p:cNvPicPr/>
          <p:nvPr/>
        </p:nvPicPr>
        <p:blipFill>
          <a:blip r:embed="rId13"/>
          <a:stretch>
            <a:fillRect/>
          </a:stretch>
        </p:blipFill>
        <p:spPr>
          <a:xfrm>
            <a:off x="2604900" y="4329067"/>
            <a:ext cx="415416" cy="364400"/>
          </a:xfrm>
          <a:prstGeom prst="rect">
            <a:avLst/>
          </a:prstGeom>
        </p:spPr>
      </p:pic>
      <p:pic>
        <p:nvPicPr>
          <p:cNvPr id="48" name="asset-sheet separated people pictogram"/>
          <p:cNvPicPr/>
          <p:nvPr/>
        </p:nvPicPr>
        <p:blipFill>
          <a:blip r:embed="rId14"/>
          <a:stretch>
            <a:fillRect/>
          </a:stretch>
        </p:blipFill>
        <p:spPr>
          <a:xfrm>
            <a:off x="4477913" y="4329067"/>
            <a:ext cx="415416" cy="364400"/>
          </a:xfrm>
          <a:prstGeom prst="rect">
            <a:avLst/>
          </a:prstGeom>
        </p:spPr>
      </p:pic>
      <p:pic>
        <p:nvPicPr>
          <p:cNvPr id="49" name="asset-sheet separated rising chart pictogram"/>
          <p:cNvPicPr/>
          <p:nvPr/>
        </p:nvPicPr>
        <p:blipFill>
          <a:blip r:embed="rId15"/>
          <a:stretch>
            <a:fillRect/>
          </a:stretch>
        </p:blipFill>
        <p:spPr>
          <a:xfrm>
            <a:off x="6358215" y="4329067"/>
            <a:ext cx="415416" cy="364400"/>
          </a:xfrm>
          <a:prstGeom prst="rect">
            <a:avLst/>
          </a:prstGeom>
        </p:spPr>
      </p:pic>
      <p:pic>
        <p:nvPicPr>
          <p:cNvPr id="50" name="asset-sheet separated check pictogram"/>
          <p:cNvPicPr/>
          <p:nvPr/>
        </p:nvPicPr>
        <p:blipFill>
          <a:blip r:embed="rId16"/>
          <a:stretch>
            <a:fillRect/>
          </a:stretch>
        </p:blipFill>
        <p:spPr>
          <a:xfrm>
            <a:off x="1263909" y="5772089"/>
            <a:ext cx="327960" cy="291520"/>
          </a:xfrm>
          <a:prstGeom prst="rect">
            <a:avLst/>
          </a:prstGeom>
        </p:spPr>
      </p:pic>
      <p:pic>
        <p:nvPicPr>
          <p:cNvPr id="51" name="asset-sheet separated magnifier pictogram"/>
          <p:cNvPicPr/>
          <p:nvPr/>
        </p:nvPicPr>
        <p:blipFill>
          <a:blip r:embed="rId17"/>
          <a:stretch>
            <a:fillRect/>
          </a:stretch>
        </p:blipFill>
        <p:spPr>
          <a:xfrm>
            <a:off x="2998451" y="5772089"/>
            <a:ext cx="327960" cy="291520"/>
          </a:xfrm>
          <a:prstGeom prst="rect">
            <a:avLst/>
          </a:prstGeom>
        </p:spPr>
      </p:pic>
      <p:pic>
        <p:nvPicPr>
          <p:cNvPr id="52" name="asset-sheet separated book pictogram"/>
          <p:cNvPicPr/>
          <p:nvPr/>
        </p:nvPicPr>
        <p:blipFill>
          <a:blip r:embed="rId18"/>
          <a:stretch>
            <a:fillRect/>
          </a:stretch>
        </p:blipFill>
        <p:spPr>
          <a:xfrm>
            <a:off x="4725705" y="5772089"/>
            <a:ext cx="327960" cy="291520"/>
          </a:xfrm>
          <a:prstGeom prst="rect">
            <a:avLst/>
          </a:prstGeom>
        </p:spPr>
      </p:pic>
      <p:pic>
        <p:nvPicPr>
          <p:cNvPr id="53" name="asset-sheet separated check pictogram"/>
          <p:cNvPicPr/>
          <p:nvPr/>
        </p:nvPicPr>
        <p:blipFill>
          <a:blip r:embed="rId19"/>
          <a:stretch>
            <a:fillRect/>
          </a:stretch>
        </p:blipFill>
        <p:spPr>
          <a:xfrm>
            <a:off x="6460247" y="5772089"/>
            <a:ext cx="327960" cy="291520"/>
          </a:xfrm>
          <a:prstGeom prst="rect">
            <a:avLst/>
          </a:prstGeom>
        </p:spPr>
      </p:pic>
      <p:pic>
        <p:nvPicPr>
          <p:cNvPr id="54" name="asset-sheet separated trophy pictogram"/>
          <p:cNvPicPr/>
          <p:nvPr/>
        </p:nvPicPr>
        <p:blipFill>
          <a:blip r:embed="rId20"/>
          <a:stretch>
            <a:fillRect/>
          </a:stretch>
        </p:blipFill>
        <p:spPr>
          <a:xfrm>
            <a:off x="8530037" y="5575313"/>
            <a:ext cx="546599" cy="510159"/>
          </a:xfrm>
          <a:prstGeom prst="rect">
            <a:avLst/>
          </a:prstGeom>
        </p:spPr>
      </p:pic>
      <p:sp>
        <p:nvSpPr>
          <p:cNvPr id="55" name="TextBox 55"/>
          <p:cNvSpPr txBox="1"/>
          <p:nvPr/>
        </p:nvSpPr>
        <p:spPr>
          <a:xfrm>
            <a:off x="207150" y="291520"/>
            <a:ext cx="1967758" cy="400840"/>
          </a:xfrm>
          <a:prstGeom prst="rect">
            <a:avLst/>
          </a:prstGeom>
          <a:noFill/>
          <a:ln>
            <a:noFill/>
          </a:ln>
        </p:spPr>
        <p:txBody>
          <a:bodyPr wrap="none" anchor="mid" lIns="0" tIns="0" rIns="0" bIns="0">
            <a:noAutofit/>
          </a:bodyPr>
          <a:lstStyle/>
          <a:p>
            <a:pPr algn="left"/>
            <a:r>
              <a:rPr lang="zh-CN" sz="259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五、迭代推广</a:t>
            </a:r>
            <a:endParaRPr lang="zh-CN" sz="2590"/>
          </a:p>
        </p:txBody>
      </p:sp>
      <p:sp>
        <p:nvSpPr>
          <p:cNvPr id="56" name="TextBox 56"/>
          <p:cNvSpPr txBox="1"/>
          <p:nvPr/>
        </p:nvSpPr>
        <p:spPr>
          <a:xfrm>
            <a:off x="2459140" y="262368"/>
            <a:ext cx="4882954" cy="437279"/>
          </a:xfrm>
          <a:prstGeom prst="rect">
            <a:avLst/>
          </a:prstGeom>
          <a:noFill/>
          <a:ln>
            <a:noFill/>
          </a:ln>
        </p:spPr>
        <p:txBody>
          <a:bodyPr wrap="none" anchor="mid" lIns="0" tIns="0" rIns="0" bIns="0">
            <a:noAutofit/>
          </a:bodyPr>
          <a:lstStyle/>
          <a:p>
            <a:pPr algn="left"/>
            <a:r>
              <a:rPr lang="zh-CN" sz="25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边用边更新，推动AI取数能力</a:t>
            </a:r>
            <a:endParaRPr lang="zh-CN" sz="2540"/>
          </a:p>
        </p:txBody>
      </p:sp>
      <p:sp>
        <p:nvSpPr>
          <p:cNvPr id="57" name="TextBox 57"/>
          <p:cNvSpPr txBox="1"/>
          <p:nvPr/>
        </p:nvSpPr>
        <p:spPr>
          <a:xfrm>
            <a:off x="7342094" y="262368"/>
            <a:ext cx="1749118" cy="437279"/>
          </a:xfrm>
          <a:prstGeom prst="rect">
            <a:avLst/>
          </a:prstGeom>
          <a:noFill/>
          <a:ln>
            <a:noFill/>
          </a:ln>
        </p:spPr>
        <p:txBody>
          <a:bodyPr wrap="none" anchor="mid" lIns="0" tIns="0" rIns="0" bIns="0">
            <a:noAutofit/>
          </a:bodyPr>
          <a:lstStyle/>
          <a:p>
            <a:pPr algn="left"/>
            <a:r>
              <a:rPr lang="zh-CN" sz="2540" b="1">
                <a:solidFill>
                  <a:srgbClr val="D81712"/>
                </a:solidFill>
                <a:latin typeface="PingFang SC"/>
                <a:ea typeface="PingFang SC"/>
                <a:cs typeface="PingFang SC"/>
              </a:rPr>
              <a:t>持续提升</a:t>
            </a:r>
            <a:endParaRPr lang="zh-CN" sz="2540"/>
          </a:p>
        </p:txBody>
      </p:sp>
      <p:sp>
        <p:nvSpPr>
          <p:cNvPr id="58" name="TextBox 58"/>
          <p:cNvSpPr txBox="1"/>
          <p:nvPr/>
        </p:nvSpPr>
        <p:spPr>
          <a:xfrm>
            <a:off x="3326411" y="1071335"/>
            <a:ext cx="1603358" cy="255080"/>
          </a:xfrm>
          <a:prstGeom prst="rect">
            <a:avLst/>
          </a:prstGeom>
          <a:noFill/>
          <a:ln>
            <a:noFill/>
          </a:ln>
        </p:spPr>
        <p:txBody>
          <a:bodyPr wrap="none" anchor="mid" lIns="0" tIns="0" rIns="0" bIns="0">
            <a:noAutofit/>
          </a:bodyPr>
          <a:lstStyle/>
          <a:p>
            <a:pPr algn="center"/>
            <a:r>
              <a:rPr lang="zh-CN" sz="158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建立持续迭代机制</a:t>
            </a:r>
            <a:endParaRPr lang="zh-CN" sz="1580"/>
          </a:p>
        </p:txBody>
      </p:sp>
      <p:sp>
        <p:nvSpPr>
          <p:cNvPr id="59" name="TextBox 59"/>
          <p:cNvSpPr txBox="1"/>
          <p:nvPr/>
        </p:nvSpPr>
        <p:spPr>
          <a:xfrm>
            <a:off x="2320668" y="1413870"/>
            <a:ext cx="4081275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34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根据首批试用人员的真实使用情况，形成持续迭代闭环</a:t>
            </a:r>
            <a:endParaRPr lang="zh-CN" sz="1340"/>
          </a:p>
        </p:txBody>
      </p:sp>
      <p:sp>
        <p:nvSpPr>
          <p:cNvPr id="60" name="TextBox 60"/>
          <p:cNvSpPr txBox="1"/>
          <p:nvPr/>
        </p:nvSpPr>
        <p:spPr>
          <a:xfrm>
            <a:off x="1081709" y="2521645"/>
            <a:ext cx="619479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06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实际使用</a:t>
            </a:r>
            <a:endParaRPr lang="zh-CN" sz="1060"/>
          </a:p>
        </p:txBody>
      </p:sp>
      <p:sp>
        <p:nvSpPr>
          <p:cNvPr id="61" name="TextBox 61"/>
          <p:cNvSpPr txBox="1"/>
          <p:nvPr/>
        </p:nvSpPr>
        <p:spPr>
          <a:xfrm>
            <a:off x="972390" y="2769437"/>
            <a:ext cx="874559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509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试用AI处理</a:t>
            </a:r>
            <a:endParaRPr lang="zh-CN" sz="509"/>
          </a:p>
          <a:p>
            <a:pPr algn="center"/>
            <a:r>
              <a:rPr lang="zh-CN" sz="509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真实需求</a:t>
            </a:r>
            <a:endParaRPr lang="zh-CN" sz="509"/>
          </a:p>
        </p:txBody>
      </p:sp>
      <p:sp>
        <p:nvSpPr>
          <p:cNvPr id="62" name="TextBox 62"/>
          <p:cNvSpPr txBox="1"/>
          <p:nvPr/>
        </p:nvSpPr>
        <p:spPr>
          <a:xfrm>
            <a:off x="2393548" y="2521645"/>
            <a:ext cx="728799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06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发现问题</a:t>
            </a:r>
            <a:endParaRPr lang="zh-CN" sz="1060"/>
          </a:p>
        </p:txBody>
      </p:sp>
      <p:sp>
        <p:nvSpPr>
          <p:cNvPr id="63" name="TextBox 63"/>
          <p:cNvSpPr txBox="1"/>
          <p:nvPr/>
        </p:nvSpPr>
        <p:spPr>
          <a:xfrm>
            <a:off x="2174908" y="2769437"/>
            <a:ext cx="1166079" cy="32067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93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记录未解决或</a:t>
            </a:r>
            <a:endParaRPr lang="zh-CN" sz="930"/>
          </a:p>
          <a:p>
            <a:pPr algn="center"/>
            <a:r>
              <a:rPr lang="zh-CN" sz="93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处理不佳的需求</a:t>
            </a:r>
            <a:endParaRPr lang="zh-CN" sz="930"/>
          </a:p>
        </p:txBody>
      </p:sp>
      <p:sp>
        <p:nvSpPr>
          <p:cNvPr id="64" name="TextBox 64"/>
          <p:cNvSpPr txBox="1"/>
          <p:nvPr/>
        </p:nvSpPr>
        <p:spPr>
          <a:xfrm>
            <a:off x="3763690" y="2521645"/>
            <a:ext cx="801679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06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分析原因</a:t>
            </a:r>
            <a:endParaRPr lang="zh-CN" sz="1060"/>
          </a:p>
        </p:txBody>
      </p:sp>
      <p:sp>
        <p:nvSpPr>
          <p:cNvPr id="65" name="TextBox 65"/>
          <p:cNvSpPr txBox="1"/>
          <p:nvPr/>
        </p:nvSpPr>
        <p:spPr>
          <a:xfrm>
            <a:off x="3588779" y="2769437"/>
            <a:ext cx="1093199" cy="32067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93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定位知识、规则</a:t>
            </a:r>
            <a:endParaRPr lang="zh-CN" sz="930"/>
          </a:p>
          <a:p>
            <a:pPr algn="center"/>
            <a:r>
              <a:rPr lang="zh-CN" sz="93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或流程缺口</a:t>
            </a:r>
            <a:endParaRPr lang="zh-CN" sz="930"/>
          </a:p>
        </p:txBody>
      </p:sp>
      <p:sp>
        <p:nvSpPr>
          <p:cNvPr id="66" name="TextBox 66"/>
          <p:cNvSpPr txBox="1"/>
          <p:nvPr/>
        </p:nvSpPr>
        <p:spPr>
          <a:xfrm>
            <a:off x="5031801" y="2521645"/>
            <a:ext cx="1093199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06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补充知识和规则</a:t>
            </a:r>
            <a:endParaRPr lang="zh-CN" sz="1060"/>
          </a:p>
        </p:txBody>
      </p:sp>
      <p:sp>
        <p:nvSpPr>
          <p:cNvPr id="67" name="TextBox 67"/>
          <p:cNvSpPr txBox="1"/>
          <p:nvPr/>
        </p:nvSpPr>
        <p:spPr>
          <a:xfrm>
            <a:off x="4915193" y="2769437"/>
            <a:ext cx="1166079" cy="32067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8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完善数据资产、口径、</a:t>
            </a:r>
            <a:endParaRPr lang="zh-CN" sz="850"/>
          </a:p>
          <a:p>
            <a:pPr algn="center"/>
            <a:r>
              <a:rPr lang="zh-CN" sz="8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规则和案例</a:t>
            </a:r>
            <a:endParaRPr lang="zh-CN" sz="850"/>
          </a:p>
        </p:txBody>
      </p:sp>
      <p:sp>
        <p:nvSpPr>
          <p:cNvPr id="68" name="TextBox 68"/>
          <p:cNvSpPr txBox="1"/>
          <p:nvPr/>
        </p:nvSpPr>
        <p:spPr>
          <a:xfrm>
            <a:off x="6445671" y="2521645"/>
            <a:ext cx="801679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06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再次验证</a:t>
            </a:r>
            <a:endParaRPr lang="zh-CN" sz="1060"/>
          </a:p>
        </p:txBody>
      </p:sp>
      <p:sp>
        <p:nvSpPr>
          <p:cNvPr id="69" name="TextBox 69"/>
          <p:cNvSpPr txBox="1"/>
          <p:nvPr/>
        </p:nvSpPr>
        <p:spPr>
          <a:xfrm>
            <a:off x="6299911" y="2769437"/>
            <a:ext cx="1093199" cy="32067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93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验证效果，沉淀</a:t>
            </a:r>
            <a:endParaRPr lang="zh-CN" sz="930"/>
          </a:p>
          <a:p>
            <a:pPr algn="center"/>
            <a:r>
              <a:rPr lang="zh-CN" sz="93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经验并复用</a:t>
            </a:r>
            <a:endParaRPr lang="zh-CN" sz="930"/>
          </a:p>
        </p:txBody>
      </p:sp>
      <p:sp>
        <p:nvSpPr>
          <p:cNvPr id="70" name="TextBox 70"/>
          <p:cNvSpPr txBox="1"/>
          <p:nvPr/>
        </p:nvSpPr>
        <p:spPr>
          <a:xfrm>
            <a:off x="9062060" y="1093199"/>
            <a:ext cx="1749118" cy="255080"/>
          </a:xfrm>
          <a:prstGeom prst="rect">
            <a:avLst/>
          </a:prstGeom>
          <a:noFill/>
          <a:ln>
            <a:noFill/>
          </a:ln>
        </p:spPr>
        <p:txBody>
          <a:bodyPr wrap="none" anchor="mid" lIns="0" tIns="0" rIns="0" bIns="0">
            <a:noAutofit/>
          </a:bodyPr>
          <a:lstStyle/>
          <a:p>
            <a:pPr algn="center"/>
            <a:r>
              <a:rPr lang="zh-CN"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持续完善能力底座</a:t>
            </a:r>
            <a:endParaRPr lang="zh-CN" sz="1650"/>
          </a:p>
        </p:txBody>
      </p:sp>
      <p:sp>
        <p:nvSpPr>
          <p:cNvPr id="71" name="TextBox 71"/>
          <p:cNvSpPr txBox="1"/>
          <p:nvPr/>
        </p:nvSpPr>
        <p:spPr>
          <a:xfrm>
            <a:off x="8398853" y="1537766"/>
            <a:ext cx="2842317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针对AI暂未解决的需求，重点补充和优化：</a:t>
            </a:r>
            <a:endParaRPr lang="zh-CN" sz="1050"/>
          </a:p>
        </p:txBody>
      </p:sp>
      <p:sp>
        <p:nvSpPr>
          <p:cNvPr id="72" name="TextBox 72"/>
          <p:cNvSpPr txBox="1"/>
          <p:nvPr/>
        </p:nvSpPr>
        <p:spPr>
          <a:xfrm>
            <a:off x="8836132" y="1945894"/>
            <a:ext cx="2477917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7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缺失的数据表及字段知识</a:t>
            </a:r>
            <a:endParaRPr lang="zh-CN" sz="1270"/>
          </a:p>
        </p:txBody>
      </p:sp>
      <p:sp>
        <p:nvSpPr>
          <p:cNvPr id="73" name="TextBox 73"/>
          <p:cNvSpPr txBox="1"/>
          <p:nvPr/>
        </p:nvSpPr>
        <p:spPr>
          <a:xfrm>
            <a:off x="8836132" y="2412325"/>
            <a:ext cx="2477917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7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不清晰的指标口径</a:t>
            </a:r>
            <a:endParaRPr lang="zh-CN" sz="1270"/>
          </a:p>
        </p:txBody>
      </p:sp>
      <p:sp>
        <p:nvSpPr>
          <p:cNvPr id="74" name="TextBox 74"/>
          <p:cNvSpPr txBox="1"/>
          <p:nvPr/>
        </p:nvSpPr>
        <p:spPr>
          <a:xfrm>
            <a:off x="8836132" y="2878757"/>
            <a:ext cx="2477917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7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主表选择和字段补充规则</a:t>
            </a:r>
            <a:endParaRPr lang="zh-CN" sz="1270"/>
          </a:p>
        </p:txBody>
      </p:sp>
      <p:sp>
        <p:nvSpPr>
          <p:cNvPr id="75" name="TextBox 75"/>
          <p:cNvSpPr txBox="1"/>
          <p:nvPr/>
        </p:nvSpPr>
        <p:spPr>
          <a:xfrm>
            <a:off x="8836132" y="3345188"/>
            <a:ext cx="2477917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7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SQL生成及自检规则</a:t>
            </a:r>
            <a:endParaRPr lang="zh-CN" sz="1270"/>
          </a:p>
        </p:txBody>
      </p:sp>
      <p:sp>
        <p:nvSpPr>
          <p:cNvPr id="76" name="TextBox 76"/>
          <p:cNvSpPr txBox="1"/>
          <p:nvPr/>
        </p:nvSpPr>
        <p:spPr>
          <a:xfrm>
            <a:off x="8836132" y="3811620"/>
            <a:ext cx="2477917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7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典型需求案例</a:t>
            </a:r>
            <a:endParaRPr lang="zh-CN" sz="1270"/>
          </a:p>
        </p:txBody>
      </p:sp>
      <p:sp>
        <p:nvSpPr>
          <p:cNvPr id="77" name="TextBox 77"/>
          <p:cNvSpPr txBox="1"/>
          <p:nvPr/>
        </p:nvSpPr>
        <p:spPr>
          <a:xfrm>
            <a:off x="2969299" y="3592980"/>
            <a:ext cx="2113518" cy="255080"/>
          </a:xfrm>
          <a:prstGeom prst="rect">
            <a:avLst/>
          </a:prstGeom>
          <a:noFill/>
          <a:ln>
            <a:noFill/>
          </a:ln>
        </p:spPr>
        <p:txBody>
          <a:bodyPr wrap="none" anchor="mid" lIns="0" tIns="0" rIns="0" bIns="0">
            <a:noAutofit/>
          </a:bodyPr>
          <a:lstStyle/>
          <a:p>
            <a:pPr algn="center"/>
            <a:r>
              <a:rPr lang="zh-CN"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逐步扩大应用范围</a:t>
            </a:r>
            <a:endParaRPr lang="zh-CN" sz="1650"/>
          </a:p>
        </p:txBody>
      </p:sp>
      <p:sp>
        <p:nvSpPr>
          <p:cNvPr id="78" name="TextBox 78"/>
          <p:cNvSpPr txBox="1"/>
          <p:nvPr/>
        </p:nvSpPr>
        <p:spPr>
          <a:xfrm>
            <a:off x="710022" y="3942803"/>
            <a:ext cx="6559192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98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在首批4人试用基础上，根据实际使用效果逐步扩大试用范围，推动AI辅助取数从小范围验证走向团队应用。</a:t>
            </a:r>
            <a:endParaRPr lang="zh-CN" sz="980"/>
          </a:p>
        </p:txBody>
      </p:sp>
      <p:sp>
        <p:nvSpPr>
          <p:cNvPr id="79" name="TextBox 79"/>
          <p:cNvSpPr txBox="1"/>
          <p:nvPr/>
        </p:nvSpPr>
        <p:spPr>
          <a:xfrm>
            <a:off x="731886" y="4846514"/>
            <a:ext cx="655919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06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4人试用</a:t>
            </a:r>
            <a:endParaRPr lang="zh-CN" sz="1060"/>
          </a:p>
        </p:txBody>
      </p:sp>
      <p:sp>
        <p:nvSpPr>
          <p:cNvPr id="80" name="TextBox 80"/>
          <p:cNvSpPr txBox="1"/>
          <p:nvPr/>
        </p:nvSpPr>
        <p:spPr>
          <a:xfrm>
            <a:off x="637142" y="5079730"/>
            <a:ext cx="874559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019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首批试用验证</a:t>
            </a:r>
            <a:endParaRPr lang="zh-CN" sz="1019"/>
          </a:p>
        </p:txBody>
      </p:sp>
      <p:sp>
        <p:nvSpPr>
          <p:cNvPr id="81" name="TextBox 81"/>
          <p:cNvSpPr txBox="1"/>
          <p:nvPr/>
        </p:nvSpPr>
        <p:spPr>
          <a:xfrm>
            <a:off x="2481004" y="4846514"/>
            <a:ext cx="874559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06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持续优化</a:t>
            </a:r>
            <a:endParaRPr lang="zh-CN" sz="1060"/>
          </a:p>
        </p:txBody>
      </p:sp>
      <p:sp>
        <p:nvSpPr>
          <p:cNvPr id="82" name="TextBox 82"/>
          <p:cNvSpPr txBox="1"/>
          <p:nvPr/>
        </p:nvSpPr>
        <p:spPr>
          <a:xfrm>
            <a:off x="2335244" y="5079730"/>
            <a:ext cx="1166079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019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迭代更新能力底座</a:t>
            </a:r>
            <a:endParaRPr lang="zh-CN" sz="1019"/>
          </a:p>
        </p:txBody>
      </p:sp>
      <p:sp>
        <p:nvSpPr>
          <p:cNvPr id="83" name="TextBox 83"/>
          <p:cNvSpPr txBox="1"/>
          <p:nvPr/>
        </p:nvSpPr>
        <p:spPr>
          <a:xfrm>
            <a:off x="4375882" y="4846514"/>
            <a:ext cx="1093199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06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扩大试用范围</a:t>
            </a:r>
            <a:endParaRPr lang="zh-CN" sz="1060"/>
          </a:p>
        </p:txBody>
      </p:sp>
      <p:sp>
        <p:nvSpPr>
          <p:cNvPr id="84" name="TextBox 84"/>
          <p:cNvSpPr txBox="1"/>
          <p:nvPr/>
        </p:nvSpPr>
        <p:spPr>
          <a:xfrm>
            <a:off x="4303002" y="5079730"/>
            <a:ext cx="1166079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019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更多人员参与验证</a:t>
            </a:r>
            <a:endParaRPr lang="zh-CN" sz="1019"/>
          </a:p>
        </p:txBody>
      </p:sp>
      <p:sp>
        <p:nvSpPr>
          <p:cNvPr id="85" name="TextBox 85"/>
          <p:cNvSpPr txBox="1"/>
          <p:nvPr/>
        </p:nvSpPr>
        <p:spPr>
          <a:xfrm>
            <a:off x="6154152" y="4846514"/>
            <a:ext cx="1166079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06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团队推广应用</a:t>
            </a:r>
            <a:endParaRPr lang="zh-CN" sz="1060"/>
          </a:p>
        </p:txBody>
      </p:sp>
      <p:sp>
        <p:nvSpPr>
          <p:cNvPr id="86" name="TextBox 86"/>
          <p:cNvSpPr txBox="1"/>
          <p:nvPr/>
        </p:nvSpPr>
        <p:spPr>
          <a:xfrm>
            <a:off x="6125000" y="5079730"/>
            <a:ext cx="1311838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019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能力复制，全面应用</a:t>
            </a:r>
            <a:endParaRPr lang="zh-CN" sz="1019"/>
          </a:p>
        </p:txBody>
      </p:sp>
      <p:sp>
        <p:nvSpPr>
          <p:cNvPr id="87" name="TextBox 87"/>
          <p:cNvSpPr txBox="1"/>
          <p:nvPr/>
        </p:nvSpPr>
        <p:spPr>
          <a:xfrm>
            <a:off x="345622" y="5648193"/>
            <a:ext cx="510159" cy="510159"/>
          </a:xfrm>
          <a:prstGeom prst="rect">
            <a:avLst/>
          </a:prstGeom>
          <a:noFill/>
          <a:ln>
            <a:noFill/>
          </a:ln>
        </p:spPr>
        <p:txBody>
          <a:bodyPr wrap="none" anchor="mid" lIns="0" tIns="0" rIns="0" bIns="0">
            <a:noAutofit/>
          </a:bodyPr>
          <a:lstStyle/>
          <a:p>
            <a:pPr algn="center"/>
            <a:r>
              <a:rPr lang="zh-CN" sz="148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迭代</a:t>
            </a:r>
            <a:endParaRPr lang="zh-CN" sz="1480"/>
          </a:p>
          <a:p>
            <a:pPr algn="center"/>
            <a:r>
              <a:rPr lang="zh-CN" sz="148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闭环</a:t>
            </a:r>
            <a:endParaRPr lang="zh-CN" sz="1480"/>
          </a:p>
        </p:txBody>
      </p:sp>
      <p:sp>
        <p:nvSpPr>
          <p:cNvPr id="88" name="TextBox 88"/>
          <p:cNvSpPr txBox="1"/>
          <p:nvPr/>
        </p:nvSpPr>
        <p:spPr>
          <a:xfrm>
            <a:off x="1606445" y="5786665"/>
            <a:ext cx="874559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1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使用验证</a:t>
            </a:r>
            <a:endParaRPr lang="zh-CN" sz="1019"/>
          </a:p>
        </p:txBody>
      </p:sp>
      <p:sp>
        <p:nvSpPr>
          <p:cNvPr id="89" name="TextBox 89"/>
          <p:cNvSpPr txBox="1"/>
          <p:nvPr/>
        </p:nvSpPr>
        <p:spPr>
          <a:xfrm>
            <a:off x="1606445" y="6049033"/>
            <a:ext cx="874559" cy="16033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7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真实需求验证效果</a:t>
            </a:r>
            <a:endParaRPr lang="zh-CN" sz="770"/>
          </a:p>
        </p:txBody>
      </p:sp>
      <p:sp>
        <p:nvSpPr>
          <p:cNvPr id="90" name="TextBox 90"/>
          <p:cNvSpPr txBox="1"/>
          <p:nvPr/>
        </p:nvSpPr>
        <p:spPr>
          <a:xfrm>
            <a:off x="3304547" y="5786665"/>
            <a:ext cx="874559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1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问题发现</a:t>
            </a:r>
            <a:endParaRPr lang="zh-CN" sz="1019"/>
          </a:p>
        </p:txBody>
      </p:sp>
      <p:sp>
        <p:nvSpPr>
          <p:cNvPr id="91" name="TextBox 91"/>
          <p:cNvSpPr txBox="1"/>
          <p:nvPr/>
        </p:nvSpPr>
        <p:spPr>
          <a:xfrm>
            <a:off x="3304547" y="6049033"/>
            <a:ext cx="874559" cy="16033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9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识别未解决问题</a:t>
            </a:r>
            <a:endParaRPr lang="zh-CN" sz="890"/>
          </a:p>
        </p:txBody>
      </p:sp>
      <p:sp>
        <p:nvSpPr>
          <p:cNvPr id="92" name="TextBox 92"/>
          <p:cNvSpPr txBox="1"/>
          <p:nvPr/>
        </p:nvSpPr>
        <p:spPr>
          <a:xfrm>
            <a:off x="5002649" y="5786665"/>
            <a:ext cx="874559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1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能力更新</a:t>
            </a:r>
            <a:endParaRPr lang="zh-CN" sz="1019"/>
          </a:p>
        </p:txBody>
      </p:sp>
      <p:sp>
        <p:nvSpPr>
          <p:cNvPr id="93" name="TextBox 93"/>
          <p:cNvSpPr txBox="1"/>
          <p:nvPr/>
        </p:nvSpPr>
        <p:spPr>
          <a:xfrm>
            <a:off x="5002649" y="6049033"/>
            <a:ext cx="874559" cy="16033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9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补充知识和规则</a:t>
            </a:r>
            <a:endParaRPr lang="zh-CN" sz="890"/>
          </a:p>
        </p:txBody>
      </p:sp>
      <p:sp>
        <p:nvSpPr>
          <p:cNvPr id="94" name="TextBox 94"/>
          <p:cNvSpPr txBox="1"/>
          <p:nvPr/>
        </p:nvSpPr>
        <p:spPr>
          <a:xfrm>
            <a:off x="6817359" y="5786665"/>
            <a:ext cx="874559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1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再次验证</a:t>
            </a:r>
            <a:endParaRPr lang="zh-CN" sz="1019"/>
          </a:p>
        </p:txBody>
      </p:sp>
      <p:sp>
        <p:nvSpPr>
          <p:cNvPr id="95" name="TextBox 95"/>
          <p:cNvSpPr txBox="1"/>
          <p:nvPr/>
        </p:nvSpPr>
        <p:spPr>
          <a:xfrm>
            <a:off x="6817359" y="6049033"/>
            <a:ext cx="947439" cy="16033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验证效果并沉淀复用</a:t>
            </a:r>
            <a:endParaRPr lang="zh-CN" sz="750"/>
          </a:p>
        </p:txBody>
      </p:sp>
      <p:sp>
        <p:nvSpPr>
          <p:cNvPr id="96" name="TextBox 96"/>
          <p:cNvSpPr txBox="1"/>
          <p:nvPr/>
        </p:nvSpPr>
        <p:spPr>
          <a:xfrm>
            <a:off x="9171380" y="5524298"/>
            <a:ext cx="2113518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通过真实需求不断反哺能力建设，</a:t>
            </a:r>
            <a:endParaRPr lang="zh-CN" sz="1000"/>
          </a:p>
        </p:txBody>
      </p:sp>
      <p:sp>
        <p:nvSpPr>
          <p:cNvPr id="97" name="TextBox 97"/>
          <p:cNvSpPr txBox="1"/>
          <p:nvPr/>
        </p:nvSpPr>
        <p:spPr>
          <a:xfrm>
            <a:off x="9171380" y="5837681"/>
            <a:ext cx="2186397" cy="25508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10" b="1">
                <a:solidFill>
                  <a:srgbClr val="D81712"/>
                </a:solidFill>
                <a:latin typeface="PingFang SC"/>
                <a:ea typeface="PingFang SC"/>
                <a:cs typeface="PingFang SC"/>
              </a:rPr>
              <a:t>让AI在使用中持续学习、</a:t>
            </a:r>
            <a:endParaRPr lang="zh-CN" sz="1410"/>
          </a:p>
        </p:txBody>
      </p:sp>
      <p:sp>
        <p:nvSpPr>
          <p:cNvPr id="98" name="TextBox 98"/>
          <p:cNvSpPr txBox="1"/>
          <p:nvPr/>
        </p:nvSpPr>
        <p:spPr>
          <a:xfrm>
            <a:off x="9171380" y="6151065"/>
            <a:ext cx="2186397" cy="25508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80" b="1">
                <a:solidFill>
                  <a:srgbClr val="D81712"/>
                </a:solidFill>
                <a:latin typeface="PingFang SC"/>
                <a:ea typeface="PingFang SC"/>
                <a:cs typeface="PingFang SC"/>
              </a:rPr>
              <a:t>持续完善、持续提升！</a:t>
            </a:r>
            <a:endParaRPr lang="zh-CN" sz="148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