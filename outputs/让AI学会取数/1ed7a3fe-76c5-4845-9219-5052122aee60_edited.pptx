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6355129"/>
            <a:ext cx="12191695" cy="502871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lipse 3"/>
          <p:cNvSpPr/>
          <p:nvPr/>
        </p:nvSpPr>
        <p:spPr>
          <a:xfrm>
            <a:off x="-255209" y="6070897"/>
            <a:ext cx="12702113" cy="51015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954171" y="276944"/>
            <a:ext cx="401043" cy="546599"/>
          </a:xfrm>
          <a:prstGeom prst="chevron">
            <a:avLst/>
          </a:prstGeom>
          <a:solidFill>
            <a:srgbClr val="F4C8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0" y="6741392"/>
            <a:ext cx="12191695" cy="116608"/>
          </a:xfrm>
          <a:prstGeom prst="rect">
            <a:avLst/>
          </a:prstGeom>
          <a:solidFill>
            <a:srgbClr val="BD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0" y="276944"/>
            <a:ext cx="2027088" cy="546599"/>
          </a:xfrm>
          <a:prstGeom prst="rect">
            <a:avLst/>
          </a:prstGeom>
          <a:solidFill>
            <a:srgbClr val="D5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0" y="940151"/>
            <a:ext cx="11870861" cy="0"/>
          </a:xfrm>
          <a:prstGeom prst="line">
            <a:avLst/>
          </a:prstGeom>
          <a:noFill/>
          <a:ln w="25400">
            <a:solidFill>
              <a:srgbClr val="D70000"/>
            </a:solidFill>
          </a:ln>
        </p:spPr>
        <p:txBody>
          <a:bodyPr/>
          <a:lstStyle/>
          <a:p/>
        </p:txBody>
      </p:sp>
      <p:sp>
        <p:nvSpPr>
          <p:cNvPr id="8" name="Ellipse 8"/>
          <p:cNvSpPr/>
          <p:nvPr/>
        </p:nvSpPr>
        <p:spPr>
          <a:xfrm>
            <a:off x="11885444" y="903711"/>
            <a:ext cx="72917" cy="728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70000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5950014" y="1581494"/>
            <a:ext cx="5454179" cy="2550797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25400">
            <a:solidFill>
              <a:srgbClr val="D60000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4951053" y="4489403"/>
            <a:ext cx="6927100" cy="1719966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25400">
            <a:solidFill>
              <a:srgbClr val="F0B5B5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364584" y="2011486"/>
            <a:ext cx="2180213" cy="2113518"/>
          </a:xfrm>
          <a:prstGeom prst="roundRect">
            <a:avLst>
              <a:gd name="adj" fmla="val 6207"/>
            </a:avLst>
          </a:prstGeom>
          <a:solidFill>
            <a:srgbClr val="FFF7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2800007" y="2011486"/>
            <a:ext cx="2770840" cy="2113518"/>
          </a:xfrm>
          <a:prstGeom prst="roundRect">
            <a:avLst>
              <a:gd name="adj" fmla="val 6207"/>
            </a:avLst>
          </a:prstGeom>
          <a:solidFill>
            <a:srgbClr val="FFF7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357293" y="4817362"/>
            <a:ext cx="4345844" cy="1392006"/>
          </a:xfrm>
          <a:prstGeom prst="roundRect">
            <a:avLst>
              <a:gd name="adj" fmla="val 9424"/>
            </a:avLst>
          </a:prstGeom>
          <a:solidFill>
            <a:srgbClr val="FFF7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7751060" y="2317581"/>
            <a:ext cx="0" cy="1464886"/>
          </a:xfrm>
          <a:prstGeom prst="line">
            <a:avLst/>
          </a:prstGeom>
          <a:noFill/>
          <a:ln w="25400">
            <a:solidFill>
              <a:srgbClr val="E9B9B9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9450022" y="2317581"/>
            <a:ext cx="0" cy="1464886"/>
          </a:xfrm>
          <a:prstGeom prst="line">
            <a:avLst/>
          </a:prstGeom>
          <a:noFill/>
          <a:ln w="25400">
            <a:solidFill>
              <a:srgbClr val="E9B9B9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6409390" y="4759058"/>
            <a:ext cx="0" cy="1180655"/>
          </a:xfrm>
          <a:prstGeom prst="line">
            <a:avLst/>
          </a:prstGeom>
          <a:noFill/>
          <a:ln w="25400">
            <a:solidFill>
              <a:srgbClr val="E6A1A1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918752" y="1574206"/>
            <a:ext cx="1356253" cy="386264"/>
          </a:xfrm>
          <a:prstGeom prst="roundRect">
            <a:avLst>
              <a:gd name="adj" fmla="val 22642"/>
            </a:avLst>
          </a:prstGeom>
          <a:solidFill>
            <a:srgbClr val="D6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3478133" y="1574206"/>
            <a:ext cx="1319795" cy="386264"/>
          </a:xfrm>
          <a:prstGeom prst="roundRect">
            <a:avLst>
              <a:gd name="adj" fmla="val 22642"/>
            </a:avLst>
          </a:prstGeom>
          <a:solidFill>
            <a:srgbClr val="D6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918752" y="4372795"/>
            <a:ext cx="1356253" cy="386264"/>
          </a:xfrm>
          <a:prstGeom prst="roundRect">
            <a:avLst>
              <a:gd name="adj" fmla="val 22642"/>
            </a:avLst>
          </a:prstGeom>
          <a:solidFill>
            <a:srgbClr val="D6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6730224" y="4751770"/>
            <a:ext cx="1341670" cy="393552"/>
          </a:xfrm>
          <a:prstGeom prst="roundRect">
            <a:avLst>
              <a:gd name="adj" fmla="val 22222"/>
            </a:avLst>
          </a:prstGeom>
          <a:solidFill>
            <a:srgbClr val="D6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7116683" y="1311838"/>
            <a:ext cx="3084382" cy="546599"/>
          </a:xfrm>
          <a:prstGeom prst="roundRect">
            <a:avLst>
              <a:gd name="adj" fmla="val 8000"/>
            </a:avLst>
          </a:prstGeom>
          <a:solidFill>
            <a:srgbClr val="D6000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2" name="real use people icon"/>
          <p:cNvPicPr/>
          <p:nvPr/>
        </p:nvPicPr>
        <p:blipFill>
          <a:blip r:embed="rId2"/>
          <a:stretch>
            <a:fillRect/>
          </a:stretch>
        </p:blipFill>
        <p:spPr>
          <a:xfrm>
            <a:off x="379168" y="1064047"/>
            <a:ext cx="743752" cy="940151"/>
          </a:xfrm>
          <a:prstGeom prst="rect">
            <a:avLst/>
          </a:prstGeom>
        </p:spPr>
      </p:pic>
      <p:pic>
        <p:nvPicPr>
          <p:cNvPr id="23" name="tracking clipboard icon"/>
          <p:cNvPicPr/>
          <p:nvPr/>
        </p:nvPicPr>
        <p:blipFill>
          <a:blip r:embed="rId3"/>
          <a:stretch>
            <a:fillRect/>
          </a:stretch>
        </p:blipFill>
        <p:spPr>
          <a:xfrm>
            <a:off x="2909382" y="1085911"/>
            <a:ext cx="743752" cy="918287"/>
          </a:xfrm>
          <a:prstGeom prst="rect">
            <a:avLst/>
          </a:prstGeom>
        </p:spPr>
      </p:pic>
      <p:pic>
        <p:nvPicPr>
          <p:cNvPr id="24" name="tracking purpose icon"/>
          <p:cNvPicPr/>
          <p:nvPr/>
        </p:nvPicPr>
        <p:blipFill>
          <a:blip r:embed="rId4"/>
          <a:stretch>
            <a:fillRect/>
          </a:stretch>
        </p:blipFill>
        <p:spPr>
          <a:xfrm>
            <a:off x="393751" y="4219747"/>
            <a:ext cx="751043" cy="699647"/>
          </a:xfrm>
          <a:prstGeom prst="rect">
            <a:avLst/>
          </a:prstGeom>
        </p:spPr>
      </p:pic>
      <p:pic>
        <p:nvPicPr>
          <p:cNvPr id="25" name="search document icon"/>
          <p:cNvPicPr/>
          <p:nvPr/>
        </p:nvPicPr>
        <p:blipFill>
          <a:blip r:embed="rId5"/>
          <a:stretch>
            <a:fillRect/>
          </a:stretch>
        </p:blipFill>
        <p:spPr>
          <a:xfrm>
            <a:off x="568751" y="5036002"/>
            <a:ext cx="955211" cy="976591"/>
          </a:xfrm>
          <a:prstGeom prst="rect">
            <a:avLst/>
          </a:prstGeom>
        </p:spPr>
      </p:pic>
      <p:pic>
        <p:nvPicPr>
          <p:cNvPr id="26" name="demand document icon"/>
          <p:cNvPicPr/>
          <p:nvPr/>
        </p:nvPicPr>
        <p:blipFill>
          <a:blip r:embed="rId6"/>
          <a:stretch>
            <a:fillRect/>
          </a:stretch>
        </p:blipFill>
        <p:spPr>
          <a:xfrm>
            <a:off x="6496890" y="2062502"/>
            <a:ext cx="889585" cy="838119"/>
          </a:xfrm>
          <a:prstGeom prst="rect">
            <a:avLst/>
          </a:prstGeom>
        </p:spPr>
      </p:pic>
      <p:pic>
        <p:nvPicPr>
          <p:cNvPr id="27" name="success check icon"/>
          <p:cNvPicPr/>
          <p:nvPr/>
        </p:nvPicPr>
        <p:blipFill>
          <a:blip r:embed="rId7"/>
          <a:stretch>
            <a:fillRect/>
          </a:stretch>
        </p:blipFill>
        <p:spPr>
          <a:xfrm>
            <a:off x="8108352" y="2055214"/>
            <a:ext cx="889585" cy="845407"/>
          </a:xfrm>
          <a:prstGeom prst="rect">
            <a:avLst/>
          </a:prstGeom>
        </p:spPr>
      </p:pic>
      <p:pic>
        <p:nvPicPr>
          <p:cNvPr id="28" name="resolution ratio pie icon"/>
          <p:cNvPicPr/>
          <p:nvPr/>
        </p:nvPicPr>
        <p:blipFill>
          <a:blip r:embed="rId8"/>
          <a:stretch>
            <a:fillRect/>
          </a:stretch>
        </p:blipFill>
        <p:spPr>
          <a:xfrm>
            <a:off x="10026065" y="2069790"/>
            <a:ext cx="889585" cy="830831"/>
          </a:xfrm>
          <a:prstGeom prst="rect">
            <a:avLst/>
          </a:prstGeom>
        </p:spPr>
      </p:pic>
      <p:pic>
        <p:nvPicPr>
          <p:cNvPr id="29" name="summary trophy icon"/>
          <p:cNvPicPr/>
          <p:nvPr/>
        </p:nvPicPr>
        <p:blipFill>
          <a:blip r:embed="rId9"/>
          <a:stretch>
            <a:fillRect/>
          </a:stretch>
        </p:blipFill>
        <p:spPr>
          <a:xfrm>
            <a:off x="5038553" y="4759058"/>
            <a:ext cx="1181253" cy="1275399"/>
          </a:xfrm>
          <a:prstGeom prst="rect">
            <a:avLst/>
          </a:prstGeom>
        </p:spPr>
      </p:pic>
      <p:pic>
        <p:nvPicPr>
          <p:cNvPr id="30" name="metric arrow decoration"/>
          <p:cNvPicPr/>
          <p:nvPr/>
        </p:nvPicPr>
        <p:blipFill>
          <a:blip r:embed="rId10"/>
          <a:stretch>
            <a:fillRect/>
          </a:stretch>
        </p:blipFill>
        <p:spPr>
          <a:xfrm>
            <a:off x="9223980" y="2674693"/>
            <a:ext cx="619793" cy="502871"/>
          </a:xfrm>
          <a:prstGeom prst="rect">
            <a:avLst/>
          </a:prstGeom>
        </p:spPr>
      </p:pic>
      <p:pic>
        <p:nvPicPr>
          <p:cNvPr id="31" name="upward arrow decoration"/>
          <p:cNvPicPr/>
          <p:nvPr/>
        </p:nvPicPr>
        <p:blipFill>
          <a:blip r:embed="rId11"/>
          <a:stretch>
            <a:fillRect/>
          </a:stretch>
        </p:blipFill>
        <p:spPr>
          <a:xfrm>
            <a:off x="10835442" y="4606011"/>
            <a:ext cx="838544" cy="1042183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204167" y="415416"/>
            <a:ext cx="1713546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四、 试用验证</a:t>
            </a:r>
            <a:endParaRPr lang="zh-CN" sz="2300"/>
          </a:p>
        </p:txBody>
      </p:sp>
      <p:sp>
        <p:nvSpPr>
          <p:cNvPr id="33" name="TextBox 33"/>
          <p:cNvSpPr txBox="1"/>
          <p:nvPr/>
        </p:nvSpPr>
        <p:spPr>
          <a:xfrm>
            <a:off x="2530214" y="342536"/>
            <a:ext cx="5723972" cy="481007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首批 4 人试用， 真实需求解决率达到</a:t>
            </a:r>
            <a:endParaRPr lang="zh-CN" sz="3200"/>
          </a:p>
        </p:txBody>
      </p:sp>
      <p:sp>
        <p:nvSpPr>
          <p:cNvPr id="34" name="TextBox 34"/>
          <p:cNvSpPr txBox="1"/>
          <p:nvPr/>
        </p:nvSpPr>
        <p:spPr>
          <a:xfrm>
            <a:off x="8290644" y="255080"/>
            <a:ext cx="1494795" cy="568463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4600" b="1">
                <a:solidFill>
                  <a:srgbClr val="D60000"/>
                </a:solidFill>
                <a:latin typeface="Arial"/>
                <a:ea typeface="Arial"/>
                <a:cs typeface="Arial"/>
              </a:rPr>
              <a:t>77%</a:t>
            </a:r>
            <a:endParaRPr lang="zh-CN" sz="4600"/>
          </a:p>
        </p:txBody>
      </p:sp>
      <p:sp>
        <p:nvSpPr>
          <p:cNvPr id="35" name="TextBox 35"/>
          <p:cNvSpPr txBox="1"/>
          <p:nvPr/>
        </p:nvSpPr>
        <p:spPr>
          <a:xfrm>
            <a:off x="1188544" y="1668950"/>
            <a:ext cx="940627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2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真实使用</a:t>
            </a:r>
            <a:endParaRPr lang="zh-CN" sz="2000"/>
          </a:p>
        </p:txBody>
      </p:sp>
      <p:sp>
        <p:nvSpPr>
          <p:cNvPr id="36" name="TextBox 36"/>
          <p:cNvSpPr txBox="1"/>
          <p:nvPr/>
        </p:nvSpPr>
        <p:spPr>
          <a:xfrm>
            <a:off x="510418" y="2448765"/>
            <a:ext cx="1859379" cy="918287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组织 </a:t>
            </a:r>
            <a:r>
              <a:rPr lang="zh-CN" sz="1800" b="1">
                <a:solidFill>
                  <a:srgbClr val="D60000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lang="zh-CN" sz="18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名数据支撑人员，</a:t>
            </a:r>
            <a:endParaRPr lang="zh-CN" sz="1800"/>
          </a:p>
          <a:p>
            <a:pPr algn="left"/>
            <a:r>
              <a:rPr lang="zh-CN" sz="18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将 AI 辅助取数应用到</a:t>
            </a:r>
            <a:endParaRPr lang="zh-CN" sz="1800"/>
          </a:p>
          <a:p>
            <a:pPr algn="left"/>
            <a:r>
              <a:rPr lang="zh-CN" sz="18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日常取数需求中。</a:t>
            </a:r>
            <a:endParaRPr lang="zh-CN" sz="1800"/>
          </a:p>
        </p:txBody>
      </p:sp>
      <p:sp>
        <p:nvSpPr>
          <p:cNvPr id="37" name="TextBox 37"/>
          <p:cNvSpPr txBox="1"/>
          <p:nvPr/>
        </p:nvSpPr>
        <p:spPr>
          <a:xfrm>
            <a:off x="3718759" y="1668950"/>
            <a:ext cx="940627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2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持续跟踪</a:t>
            </a:r>
            <a:endParaRPr lang="zh-CN" sz="2000"/>
          </a:p>
        </p:txBody>
      </p:sp>
      <p:sp>
        <p:nvSpPr>
          <p:cNvPr id="38" name="TextBox 38"/>
          <p:cNvSpPr txBox="1"/>
          <p:nvPr/>
        </p:nvSpPr>
        <p:spPr>
          <a:xfrm>
            <a:off x="2989590" y="2230125"/>
            <a:ext cx="1531254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</a:t>
            </a:r>
            <a:r>
              <a:rPr lang="zh-CN" sz="1600" b="1">
                <a:solidFill>
                  <a:srgbClr val="D60000"/>
                </a:solidFill>
                <a:latin typeface="PingFang SC"/>
                <a:ea typeface="PingFang SC"/>
                <a:cs typeface="PingFang SC"/>
              </a:rPr>
              <a:t>日</a:t>
            </a:r>
            <a:r>
              <a:rPr lang="zh-CN" sz="16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记录并跟踪：</a:t>
            </a:r>
            <a:endParaRPr lang="zh-CN" sz="1600"/>
          </a:p>
        </p:txBody>
      </p:sp>
      <p:sp>
        <p:nvSpPr>
          <p:cNvPr id="39" name="TextBox 39"/>
          <p:cNvSpPr txBox="1"/>
          <p:nvPr/>
        </p:nvSpPr>
        <p:spPr>
          <a:xfrm>
            <a:off x="2967715" y="2579949"/>
            <a:ext cx="2333339" cy="109319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 每日真实取数需求总量；</a:t>
            </a:r>
            <a:endParaRPr lang="zh-CN" sz="1600"/>
          </a:p>
          <a:p>
            <a:pPr algn="left"/>
            <a:r>
              <a:rPr lang="zh-CN" sz="16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 使用 AI 成功解决的需求数量；</a:t>
            </a:r>
            <a:endParaRPr lang="zh-CN" sz="1600"/>
          </a:p>
          <a:p>
            <a:pPr algn="left"/>
            <a:r>
              <a:rPr lang="zh-CN" sz="16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 AI 解决需求占比；</a:t>
            </a:r>
            <a:endParaRPr lang="zh-CN" sz="1600"/>
          </a:p>
          <a:p>
            <a:pPr algn="left"/>
            <a:r>
              <a:rPr lang="zh-CN" sz="16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 各试用人员使用及解决情况。</a:t>
            </a:r>
            <a:endParaRPr lang="zh-CN" sz="1600"/>
          </a:p>
        </p:txBody>
      </p:sp>
      <p:sp>
        <p:nvSpPr>
          <p:cNvPr id="40" name="TextBox 40"/>
          <p:cNvSpPr txBox="1"/>
          <p:nvPr/>
        </p:nvSpPr>
        <p:spPr>
          <a:xfrm>
            <a:off x="1195836" y="4474827"/>
            <a:ext cx="940627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2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跟踪目的</a:t>
            </a:r>
            <a:endParaRPr lang="zh-CN" sz="2000"/>
          </a:p>
        </p:txBody>
      </p:sp>
      <p:sp>
        <p:nvSpPr>
          <p:cNvPr id="41" name="TextBox 41"/>
          <p:cNvSpPr txBox="1"/>
          <p:nvPr/>
        </p:nvSpPr>
        <p:spPr>
          <a:xfrm>
            <a:off x="1917713" y="5028714"/>
            <a:ext cx="2333339" cy="102031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通过小范围真实使用，观察</a:t>
            </a:r>
            <a:endParaRPr lang="zh-CN" sz="1600"/>
          </a:p>
          <a:p>
            <a:pPr algn="left"/>
            <a:r>
              <a:rPr lang="zh-CN" sz="16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 辅助取数的</a:t>
            </a:r>
            <a:r>
              <a:rPr lang="zh-CN" sz="1600" b="1">
                <a:solidFill>
                  <a:srgbClr val="D60000"/>
                </a:solidFill>
                <a:latin typeface="PingFang SC"/>
                <a:ea typeface="PingFang SC"/>
                <a:cs typeface="PingFang SC"/>
              </a:rPr>
              <a:t>实际覆盖情况</a:t>
            </a:r>
            <a:r>
              <a:rPr lang="zh-CN" sz="16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，</a:t>
            </a:r>
            <a:endParaRPr lang="zh-CN" sz="1600"/>
          </a:p>
          <a:p>
            <a:pPr algn="left"/>
            <a:r>
              <a:rPr lang="zh-CN" sz="16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识别暂</a:t>
            </a:r>
            <a:r>
              <a:rPr lang="zh-CN" sz="1600" b="1">
                <a:solidFill>
                  <a:srgbClr val="D60000"/>
                </a:solidFill>
                <a:latin typeface="PingFang SC"/>
                <a:ea typeface="PingFang SC"/>
                <a:cs typeface="PingFang SC"/>
              </a:rPr>
              <a:t>未解决的需求类型</a:t>
            </a:r>
            <a:r>
              <a:rPr lang="zh-CN" sz="16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，</a:t>
            </a:r>
            <a:endParaRPr lang="zh-CN" sz="1600"/>
          </a:p>
          <a:p>
            <a:pPr algn="left"/>
            <a:r>
              <a:rPr lang="zh-CN" sz="16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为后续能力优化提供依据。</a:t>
            </a:r>
            <a:endParaRPr lang="zh-CN" sz="1600"/>
          </a:p>
        </p:txBody>
      </p:sp>
      <p:sp>
        <p:nvSpPr>
          <p:cNvPr id="42" name="TextBox 42"/>
          <p:cNvSpPr txBox="1"/>
          <p:nvPr/>
        </p:nvSpPr>
        <p:spPr>
          <a:xfrm>
            <a:off x="7401059" y="1413870"/>
            <a:ext cx="2515631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2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当前成效</a:t>
            </a:r>
            <a:r>
              <a:rPr lang="zh-CN"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（截至当前）</a:t>
            </a:r>
            <a:endParaRPr lang="zh-CN" sz="2600"/>
          </a:p>
        </p:txBody>
      </p:sp>
      <p:sp>
        <p:nvSpPr>
          <p:cNvPr id="43" name="TextBox 43"/>
          <p:cNvSpPr txBox="1"/>
          <p:nvPr/>
        </p:nvSpPr>
        <p:spPr>
          <a:xfrm>
            <a:off x="6489599" y="3002652"/>
            <a:ext cx="933336" cy="45185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4300" b="1">
                <a:solidFill>
                  <a:srgbClr val="D60000"/>
                </a:solidFill>
                <a:latin typeface="Arial"/>
                <a:ea typeface="Arial"/>
                <a:cs typeface="Arial"/>
              </a:rPr>
              <a:t>22</a:t>
            </a:r>
            <a:r>
              <a:rPr lang="zh-CN" sz="16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个</a:t>
            </a:r>
            <a:endParaRPr lang="zh-CN" sz="4300"/>
          </a:p>
        </p:txBody>
      </p:sp>
      <p:sp>
        <p:nvSpPr>
          <p:cNvPr id="44" name="TextBox 44"/>
          <p:cNvSpPr txBox="1"/>
          <p:nvPr/>
        </p:nvSpPr>
        <p:spPr>
          <a:xfrm>
            <a:off x="6402098" y="3622132"/>
            <a:ext cx="1239586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真实取数需求</a:t>
            </a:r>
            <a:endParaRPr lang="zh-CN" sz="1500"/>
          </a:p>
        </p:txBody>
      </p:sp>
      <p:sp>
        <p:nvSpPr>
          <p:cNvPr id="45" name="TextBox 45"/>
          <p:cNvSpPr txBox="1"/>
          <p:nvPr/>
        </p:nvSpPr>
        <p:spPr>
          <a:xfrm>
            <a:off x="8115644" y="3002652"/>
            <a:ext cx="918752" cy="45185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4300" b="1">
                <a:solidFill>
                  <a:srgbClr val="D60000"/>
                </a:solidFill>
                <a:latin typeface="Arial"/>
                <a:ea typeface="Arial"/>
                <a:cs typeface="Arial"/>
              </a:rPr>
              <a:t>17</a:t>
            </a:r>
            <a:r>
              <a:rPr lang="zh-CN" sz="16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个</a:t>
            </a:r>
            <a:endParaRPr lang="zh-CN" sz="4300"/>
          </a:p>
        </p:txBody>
      </p:sp>
      <p:sp>
        <p:nvSpPr>
          <p:cNvPr id="46" name="TextBox 46"/>
          <p:cNvSpPr txBox="1"/>
          <p:nvPr/>
        </p:nvSpPr>
        <p:spPr>
          <a:xfrm>
            <a:off x="8042727" y="3622132"/>
            <a:ext cx="1203128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 成功解决</a:t>
            </a:r>
            <a:endParaRPr lang="zh-CN" sz="1500"/>
          </a:p>
        </p:txBody>
      </p:sp>
      <p:sp>
        <p:nvSpPr>
          <p:cNvPr id="47" name="TextBox 47"/>
          <p:cNvSpPr txBox="1"/>
          <p:nvPr/>
        </p:nvSpPr>
        <p:spPr>
          <a:xfrm>
            <a:off x="10026065" y="3002652"/>
            <a:ext cx="1035419" cy="45185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4300" b="1">
                <a:solidFill>
                  <a:srgbClr val="D60000"/>
                </a:solidFill>
                <a:latin typeface="Arial"/>
                <a:ea typeface="Arial"/>
                <a:cs typeface="Arial"/>
              </a:rPr>
              <a:t>77</a:t>
            </a:r>
            <a:r>
              <a:rPr lang="zh-CN" sz="2400" b="1">
                <a:solidFill>
                  <a:srgbClr val="D60000"/>
                </a:solidFill>
                <a:latin typeface="Arial"/>
                <a:ea typeface="Arial"/>
                <a:cs typeface="Arial"/>
              </a:rPr>
              <a:t> %</a:t>
            </a:r>
            <a:endParaRPr lang="zh-CN" sz="4300"/>
          </a:p>
        </p:txBody>
      </p:sp>
      <p:sp>
        <p:nvSpPr>
          <p:cNvPr id="48" name="TextBox 48"/>
          <p:cNvSpPr txBox="1"/>
          <p:nvPr/>
        </p:nvSpPr>
        <p:spPr>
          <a:xfrm>
            <a:off x="9872940" y="3622132"/>
            <a:ext cx="1327086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整体解决占比</a:t>
            </a:r>
            <a:endParaRPr lang="zh-CN" sz="1500"/>
          </a:p>
        </p:txBody>
      </p:sp>
      <p:sp>
        <p:nvSpPr>
          <p:cNvPr id="49" name="TextBox 49"/>
          <p:cNvSpPr txBox="1"/>
          <p:nvPr/>
        </p:nvSpPr>
        <p:spPr>
          <a:xfrm>
            <a:off x="6927100" y="4846514"/>
            <a:ext cx="947919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2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页面总结</a:t>
            </a:r>
            <a:endParaRPr lang="zh-CN" sz="2000"/>
          </a:p>
        </p:txBody>
      </p:sp>
      <p:sp>
        <p:nvSpPr>
          <p:cNvPr id="50" name="TextBox 50"/>
          <p:cNvSpPr txBox="1"/>
          <p:nvPr/>
        </p:nvSpPr>
        <p:spPr>
          <a:xfrm>
            <a:off x="6737516" y="5261930"/>
            <a:ext cx="2843757" cy="30609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从 “能力已经形成”，进入</a:t>
            </a:r>
            <a:endParaRPr lang="zh-CN" sz="2400"/>
          </a:p>
        </p:txBody>
      </p:sp>
      <p:sp>
        <p:nvSpPr>
          <p:cNvPr id="51" name="TextBox 51"/>
          <p:cNvSpPr txBox="1"/>
          <p:nvPr/>
        </p:nvSpPr>
        <p:spPr>
          <a:xfrm>
            <a:off x="6671891" y="5633617"/>
            <a:ext cx="4083343" cy="3935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00" b="1">
                <a:solidFill>
                  <a:srgbClr val="D60000"/>
                </a:solidFill>
                <a:latin typeface="PingFang SC"/>
                <a:ea typeface="PingFang SC"/>
                <a:cs typeface="PingFang SC"/>
              </a:rPr>
              <a:t>“真实需求持续使用和验证”</a:t>
            </a:r>
            <a:r>
              <a:rPr lang="zh-CN"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阶段。</a:t>
            </a:r>
            <a:endParaRPr lang="zh-CN" sz="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