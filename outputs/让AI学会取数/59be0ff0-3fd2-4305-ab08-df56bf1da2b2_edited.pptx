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10352035" y="0"/>
            <a:ext cx="1836574" cy="510159"/>
          </a:xfrm>
          <a:prstGeom prst="line">
            <a:avLst/>
          </a:prstGeom>
          <a:noFill/>
          <a:ln w="279400">
            <a:solidFill>
              <a:srgbClr val="F6DFE0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3087" y="6661224"/>
            <a:ext cx="1238959" cy="196776"/>
          </a:xfrm>
          <a:prstGeom prst="line">
            <a:avLst/>
          </a:prstGeom>
          <a:noFill/>
          <a:ln w="304800">
            <a:solidFill>
              <a:srgbClr val="F05D60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229014" y="517447"/>
            <a:ext cx="378976" cy="0"/>
          </a:xfrm>
          <a:prstGeom prst="line">
            <a:avLst/>
          </a:prstGeom>
          <a:noFill/>
          <a:ln w="63500">
            <a:solidFill>
              <a:srgbClr val="ED7779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50878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72742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217091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022968" y="2026062"/>
            <a:ext cx="5917849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258166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16428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049467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4487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855344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7232774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9113076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10556098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863070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7203622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129197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06206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994923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10927786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438821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469518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3370139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6256183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8" name="asset-sheet separated top bookmark ribbon"/>
          <p:cNvPicPr/>
          <p:nvPr/>
        </p:nvPicPr>
        <p:blipFill>
          <a:blip r:embed="rId2"/>
          <a:stretch>
            <a:fillRect/>
          </a:stretch>
        </p:blipFill>
        <p:spPr>
          <a:xfrm>
            <a:off x="352910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3"/>
          <a:stretch>
            <a:fillRect/>
          </a:stretch>
        </p:blipFill>
        <p:spPr>
          <a:xfrm>
            <a:off x="666294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4"/>
          <a:stretch>
            <a:fillRect/>
          </a:stretch>
        </p:blipFill>
        <p:spPr>
          <a:xfrm>
            <a:off x="1416957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5"/>
          <a:stretch>
            <a:fillRect/>
          </a:stretch>
        </p:blipFill>
        <p:spPr>
          <a:xfrm>
            <a:off x="3588779" y="2988077"/>
            <a:ext cx="553887" cy="728799"/>
          </a:xfrm>
          <a:prstGeom prst="rect">
            <a:avLst/>
          </a:prstGeom>
        </p:spPr>
      </p:pic>
      <p:pic>
        <p:nvPicPr>
          <p:cNvPr id="32" name="asset-sheet separated binders and document 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4128090" y="2995365"/>
            <a:ext cx="918287" cy="76523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2670492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8"/>
          <a:stretch>
            <a:fillRect/>
          </a:stretch>
        </p:blipFill>
        <p:spPr>
          <a:xfrm>
            <a:off x="5512808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9"/>
          <a:stretch>
            <a:fillRect/>
          </a:stretch>
        </p:blipFill>
        <p:spPr>
          <a:xfrm>
            <a:off x="5971952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7363958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8304109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9244260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10184411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11102698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527822" y="5276506"/>
            <a:ext cx="408128" cy="335248"/>
          </a:xfrm>
          <a:prstGeom prst="rect">
            <a:avLst/>
          </a:prstGeom>
        </p:spPr>
      </p:pic>
      <p:pic>
        <p:nvPicPr>
          <p:cNvPr id="42" name="asset-sheet separated grid table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2087452" y="5291082"/>
            <a:ext cx="291520" cy="291520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3464883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4886041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6292623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21"/>
          <a:stretch>
            <a:fillRect/>
          </a:stretch>
        </p:blipFill>
        <p:spPr>
          <a:xfrm>
            <a:off x="7968861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22"/>
          <a:stretch>
            <a:fillRect/>
          </a:stretch>
        </p:blipFill>
        <p:spPr>
          <a:xfrm>
            <a:off x="9608660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3"/>
          <a:stretch>
            <a:fillRect/>
          </a:stretch>
        </p:blipFill>
        <p:spPr>
          <a:xfrm>
            <a:off x="10986090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10"/>
          <a:stretch>
            <a:fillRect/>
          </a:stretch>
        </p:blipFill>
        <p:spPr>
          <a:xfrm>
            <a:off x="11102698" y="2040638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20534" y="2456053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4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zh-CN" sz="1480"/>
          </a:p>
        </p:txBody>
      </p:sp>
      <p:sp>
        <p:nvSpPr>
          <p:cNvPr id="51" name="TextBox 51"/>
          <p:cNvSpPr txBox="1"/>
          <p:nvPr/>
        </p:nvSpPr>
        <p:spPr>
          <a:xfrm>
            <a:off x="3421155" y="2470629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4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zh-CN" sz="1480"/>
          </a:p>
        </p:txBody>
      </p:sp>
      <p:sp>
        <p:nvSpPr>
          <p:cNvPr id="52" name="TextBox 52"/>
          <p:cNvSpPr txBox="1"/>
          <p:nvPr/>
        </p:nvSpPr>
        <p:spPr>
          <a:xfrm>
            <a:off x="6321775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68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zh-CN" sz="1689"/>
          </a:p>
        </p:txBody>
      </p:sp>
      <p:sp>
        <p:nvSpPr>
          <p:cNvPr id="53" name="TextBox 53"/>
          <p:cNvSpPr txBox="1"/>
          <p:nvPr/>
        </p:nvSpPr>
        <p:spPr>
          <a:xfrm>
            <a:off x="199862" y="160336"/>
            <a:ext cx="1384718" cy="3060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 b="1">
                <a:solidFill>
                  <a:srgbClr val="C91518"/>
                </a:solidFill>
                <a:latin typeface="PingFang SC"/>
                <a:ea typeface="PingFang SC"/>
                <a:cs typeface="PingFang SC"/>
              </a:rPr>
              <a:t>三、阶段成果</a:t>
            </a:r>
            <a:endParaRPr lang="zh-CN" sz="1700"/>
          </a:p>
        </p:txBody>
      </p:sp>
      <p:sp>
        <p:nvSpPr>
          <p:cNvPr id="54" name="TextBox 54"/>
          <p:cNvSpPr txBox="1"/>
          <p:nvPr/>
        </p:nvSpPr>
        <p:spPr>
          <a:xfrm>
            <a:off x="221726" y="553887"/>
            <a:ext cx="7943911" cy="5101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29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6月底，AI辅助取数能力雏形初步形成</a:t>
            </a:r>
            <a:endParaRPr lang="zh-CN" sz="3290"/>
          </a:p>
        </p:txBody>
      </p:sp>
      <p:sp>
        <p:nvSpPr>
          <p:cNvPr id="55" name="TextBox 55"/>
          <p:cNvSpPr txBox="1"/>
          <p:nvPr/>
        </p:nvSpPr>
        <p:spPr>
          <a:xfrm>
            <a:off x="1118149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已将</a:t>
            </a:r>
            <a:r>
              <a:rPr lang="zh-CN" sz="1580" b="1">
                <a:solidFill>
                  <a:srgbClr val="D0191C"/>
                </a:solidFill>
                <a:latin typeface="PingFang SC"/>
                <a:ea typeface="PingFang SC"/>
                <a:cs typeface="PingFang SC"/>
              </a:rPr>
              <a:t>人工取数流程</a:t>
            </a:r>
            <a:r>
              <a:rPr lang="zh-CN" sz="15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和</a:t>
            </a:r>
            <a:r>
              <a:rPr lang="zh-CN" sz="1580" b="1">
                <a:solidFill>
                  <a:srgbClr val="D0191C"/>
                </a:solidFill>
                <a:latin typeface="PingFang SC"/>
                <a:ea typeface="PingFang SC"/>
                <a:cs typeface="PingFang SC"/>
              </a:rPr>
              <a:t>相关知识</a:t>
            </a:r>
            <a:r>
              <a:rPr lang="zh-CN" sz="15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转化为</a:t>
            </a:r>
            <a:r>
              <a:rPr lang="zh-CN" sz="1580" b="1">
                <a:solidFill>
                  <a:srgbClr val="D0191C"/>
                </a:solidFill>
                <a:latin typeface="PingFang SC"/>
                <a:ea typeface="PingFang SC"/>
                <a:cs typeface="PingFang SC"/>
              </a:rPr>
              <a:t>AI可执行能力</a:t>
            </a:r>
            <a:r>
              <a:rPr lang="zh-CN" sz="15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，AI能够初步完成</a:t>
            </a:r>
            <a:r>
              <a:rPr lang="zh-CN" sz="1580" b="1">
                <a:solidFill>
                  <a:srgbClr val="D0191C"/>
                </a:solidFill>
                <a:latin typeface="PingFang SC"/>
                <a:ea typeface="PingFang SC"/>
                <a:cs typeface="PingFang SC"/>
              </a:rPr>
              <a:t>需求理解、口径澄清、数据匹配、SQL生成和自检。</a:t>
            </a:r>
            <a:endParaRPr lang="zh-CN" sz="1580"/>
          </a:p>
        </p:txBody>
      </p:sp>
      <p:sp>
        <p:nvSpPr>
          <p:cNvPr id="56" name="TextBox 56"/>
          <p:cNvSpPr txBox="1"/>
          <p:nvPr/>
        </p:nvSpPr>
        <p:spPr>
          <a:xfrm>
            <a:off x="906798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固化人的取数流程</a:t>
            </a:r>
            <a:endParaRPr lang="zh-CN" sz="1560"/>
          </a:p>
        </p:txBody>
      </p:sp>
      <p:sp>
        <p:nvSpPr>
          <p:cNvPr id="57" name="TextBox 57"/>
          <p:cNvSpPr txBox="1"/>
          <p:nvPr/>
        </p:nvSpPr>
        <p:spPr>
          <a:xfrm>
            <a:off x="578838" y="3979243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4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梳理并标准化从需求理解到</a:t>
            </a:r>
            <a:endParaRPr lang="zh-CN" sz="1040"/>
          </a:p>
          <a:p>
            <a:pPr algn="center"/>
            <a:r>
              <a:rPr lang="zh-CN" sz="104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结果核验的人工取数流程</a:t>
            </a:r>
            <a:endParaRPr lang="zh-CN" sz="1040"/>
          </a:p>
        </p:txBody>
      </p:sp>
      <p:sp>
        <p:nvSpPr>
          <p:cNvPr id="58" name="TextBox 58"/>
          <p:cNvSpPr txBox="1"/>
          <p:nvPr/>
        </p:nvSpPr>
        <p:spPr>
          <a:xfrm>
            <a:off x="3778266" y="250706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沉淀各环节知识资产</a:t>
            </a:r>
            <a:endParaRPr lang="zh-CN" sz="1400"/>
          </a:p>
        </p:txBody>
      </p:sp>
      <p:sp>
        <p:nvSpPr>
          <p:cNvPr id="59" name="TextBox 59"/>
          <p:cNvSpPr txBox="1"/>
          <p:nvPr/>
        </p:nvSpPr>
        <p:spPr>
          <a:xfrm>
            <a:off x="3413867" y="3906363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8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将表索引、指标、路由规则、</a:t>
            </a:r>
            <a:endParaRPr lang="zh-CN" sz="1080"/>
          </a:p>
          <a:p>
            <a:pPr algn="center"/>
            <a:r>
              <a:rPr lang="zh-CN" sz="108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补表规则、SQL规则等沉淀为</a:t>
            </a:r>
            <a:endParaRPr lang="zh-CN" sz="1080"/>
          </a:p>
          <a:p>
            <a:pPr algn="center"/>
            <a:r>
              <a:rPr lang="zh-CN" sz="108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可复用资产</a:t>
            </a:r>
            <a:endParaRPr lang="zh-CN" sz="1080"/>
          </a:p>
        </p:txBody>
      </p:sp>
      <p:sp>
        <p:nvSpPr>
          <p:cNvPr id="60" name="TextBox 60"/>
          <p:cNvSpPr txBox="1"/>
          <p:nvPr/>
        </p:nvSpPr>
        <p:spPr>
          <a:xfrm>
            <a:off x="6810071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260" b="1">
                <a:solidFill>
                  <a:srgbClr val="C91518"/>
                </a:solidFill>
                <a:latin typeface="PingFang SC"/>
                <a:ea typeface="PingFang SC"/>
                <a:cs typeface="PingFang SC"/>
              </a:rPr>
              <a:t>形成AI辅助取数能力</a:t>
            </a:r>
            <a:endParaRPr lang="zh-CN" sz="2260"/>
          </a:p>
        </p:txBody>
      </p:sp>
      <p:sp>
        <p:nvSpPr>
          <p:cNvPr id="61" name="TextBox 61"/>
          <p:cNvSpPr txBox="1"/>
          <p:nvPr/>
        </p:nvSpPr>
        <p:spPr>
          <a:xfrm>
            <a:off x="6795495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50">
                <a:solidFill>
                  <a:srgbClr val="222222"/>
                </a:solidFill>
                <a:latin typeface="PingFang SC"/>
                <a:ea typeface="PingFang SC"/>
                <a:cs typeface="PingFang SC"/>
              </a:rPr>
              <a:t>AI能够按照数据支撑人员的取数思路，完成关键取数环节</a:t>
            </a:r>
            <a:endParaRPr lang="zh-CN" sz="1150"/>
          </a:p>
        </p:txBody>
      </p:sp>
      <p:sp>
        <p:nvSpPr>
          <p:cNvPr id="62" name="TextBox 62"/>
          <p:cNvSpPr txBox="1"/>
          <p:nvPr/>
        </p:nvSpPr>
        <p:spPr>
          <a:xfrm>
            <a:off x="7247350" y="3993819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1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理解需求</a:t>
            </a:r>
            <a:endParaRPr lang="zh-CN" sz="1150"/>
          </a:p>
        </p:txBody>
      </p:sp>
      <p:sp>
        <p:nvSpPr>
          <p:cNvPr id="63" name="TextBox 63"/>
          <p:cNvSpPr txBox="1"/>
          <p:nvPr/>
        </p:nvSpPr>
        <p:spPr>
          <a:xfrm>
            <a:off x="8180213" y="3993819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14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主动澄清</a:t>
            </a:r>
            <a:endParaRPr lang="zh-CN" sz="1140"/>
          </a:p>
        </p:txBody>
      </p:sp>
      <p:sp>
        <p:nvSpPr>
          <p:cNvPr id="64" name="TextBox 64"/>
          <p:cNvSpPr txBox="1"/>
          <p:nvPr/>
        </p:nvSpPr>
        <p:spPr>
          <a:xfrm>
            <a:off x="9113076" y="3993819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14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匹配数据</a:t>
            </a:r>
            <a:endParaRPr lang="zh-CN" sz="1140"/>
          </a:p>
        </p:txBody>
      </p:sp>
      <p:sp>
        <p:nvSpPr>
          <p:cNvPr id="65" name="TextBox 65"/>
          <p:cNvSpPr txBox="1"/>
          <p:nvPr/>
        </p:nvSpPr>
        <p:spPr>
          <a:xfrm>
            <a:off x="10089667" y="3993819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2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生成SQL</a:t>
            </a:r>
            <a:endParaRPr lang="zh-CN" sz="1250"/>
          </a:p>
        </p:txBody>
      </p:sp>
      <p:sp>
        <p:nvSpPr>
          <p:cNvPr id="66" name="TextBox 66"/>
          <p:cNvSpPr txBox="1"/>
          <p:nvPr/>
        </p:nvSpPr>
        <p:spPr>
          <a:xfrm>
            <a:off x="11015242" y="3993819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1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自检校验</a:t>
            </a:r>
            <a:endParaRPr lang="zh-CN" sz="1160"/>
          </a:p>
        </p:txBody>
      </p:sp>
      <p:sp>
        <p:nvSpPr>
          <p:cNvPr id="67" name="TextBox 67"/>
          <p:cNvSpPr txBox="1"/>
          <p:nvPr/>
        </p:nvSpPr>
        <p:spPr>
          <a:xfrm>
            <a:off x="433078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7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能力底座</a:t>
            </a:r>
            <a:endParaRPr lang="zh-CN" sz="1739"/>
          </a:p>
        </p:txBody>
      </p:sp>
      <p:sp>
        <p:nvSpPr>
          <p:cNvPr id="68" name="TextBox 68"/>
          <p:cNvSpPr txBox="1"/>
          <p:nvPr/>
        </p:nvSpPr>
        <p:spPr>
          <a:xfrm>
            <a:off x="1839661" y="5560738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25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122</a:t>
            </a:r>
            <a:endParaRPr lang="zh-CN" sz="3250"/>
          </a:p>
        </p:txBody>
      </p:sp>
      <p:sp>
        <p:nvSpPr>
          <p:cNvPr id="69" name="TextBox 69"/>
          <p:cNvSpPr txBox="1"/>
          <p:nvPr/>
        </p:nvSpPr>
        <p:spPr>
          <a:xfrm>
            <a:off x="1912540" y="6019881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20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张表索引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3304547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29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275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81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5705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13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433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98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8728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29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8728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101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358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29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526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4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条SQL规则与自检项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9455612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25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3916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7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210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3250" b="1">
                <a:solidFill>
                  <a:srgbClr val="CF171A"/>
                </a:solidFill>
                <a:latin typeface="Arial"/>
                <a:ea typeface="Arial"/>
                <a:cs typeface="Arial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362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5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个验证案例</a:t>
            </a:r>
            <a:endParaRPr lang="zh-CN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